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6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35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29297C-AAE0-EE8D-F91F-DAAFE3AD4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D541E9E-E5DC-DBDC-7B16-C73BC8183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8E9D52-0805-4F1C-67E9-5C92CC3F5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10D7EA-C9CF-0DC3-7CD3-A1C0B777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762932-27FB-B142-D3F0-F431E770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123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183C5F-B8CA-4C2D-7B32-EF1A3F37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96679D-DE23-EFA5-7CEE-2279D5094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A4308E-1A5B-5FFB-A3C8-DC08F852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BC6E8A-05F8-F6D4-41A6-6E08D1C4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54D69C-19F4-406D-09AD-B9FE1FF0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144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81BE29-9A0C-A3BD-BA21-60CBB746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8BCC9F-519F-C573-BAB0-D5F5C893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C1913B-BC19-DEAD-C663-63FCCFE6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CCC077-AEAD-5991-9B8C-AB2EA5E8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AD4A416-0C3D-9A98-DDF4-665BFA4B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5755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005F43-1491-F3DA-D27F-D0B36C31A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0FC860-5993-8997-104A-84C49A91C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5024886-EA69-F488-74EF-741A5D790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6E9C96F-4C12-7B46-CC31-9B5B78462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3F3AC8E-5064-FD1D-36C1-C9A7582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491C799-D2BE-1F18-A0E6-E09FB27E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229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D6D614-A616-7C51-C35F-8CB3894E9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51C4DA-6298-0EEB-390E-1F6C45009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23BF184-EB31-F873-4309-E05F51018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7238CF-CE2B-8D2E-9C0E-DAE142752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1C11B9F-711F-B5E6-151F-F27150CB2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FD7867A-03BF-7B41-C99E-21E3E3374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2F9B9CA-C765-C3C7-3C94-E467A7D8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F7B0B43-E63E-A1CA-02B6-00799A66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729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DA79BA-E85A-2CD3-BED1-978A46CFC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3D43A3C-A232-1926-3C9E-91409F0B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8747CBE-D959-0E89-8DB5-3D5CEBBD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8A80741-806F-8445-4392-5E627916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8425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BDFDFC7-7D39-B11F-B01A-5211B854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7D776F9-09DA-F992-CF6F-E01A42A3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156439-3F50-E427-AB4D-24A3DAB9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925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7E4F21-021D-74F9-72D1-1E015514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7AE953-1902-5E18-6406-857B09CD0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0B696CB-86DA-9C82-14A8-6F4E2DC3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EC31563-2B82-168D-26E7-500DB5CE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085124F-A1A2-3434-CCC6-F8FB0F0E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B626889-6770-CEFA-8153-CF8EA8C2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453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F8AB17-7843-7504-C22D-68ED3674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DF178B5-8C5E-183D-0FB5-91B3E1A4D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0C1530D-B44C-7DDF-5E06-10704A362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27E344-5718-61FC-539D-761B719C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234588F-FD28-7D98-B370-FF51A2D9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E281AC-0F58-B8E2-6873-0EE2E957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455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5100C5-7FB7-BBA1-6496-6CA36575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22CFFB-00F3-1E66-96D9-5922B4401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2050E0-118A-E948-449F-2F5827EA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41FFFA-1EF9-BE3D-DEEC-8EB6D4FD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A6A778-0317-C9E8-394C-9DE65CB6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965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26CAA26-5B74-C31A-7CB9-7C063C78D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1E7C37B-AE56-8138-D545-46BD68C8F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4A91DB-5AC6-0E60-85BD-6DE57E17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6BF645-5BC4-1852-9E9E-DB7A9CA4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8483E2-06B5-CCAA-52CA-750E20EF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99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96D0B3C-915B-8696-B652-510E3FFD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540F92-8BCD-7680-D9FD-C74FD9680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79B497-3CD6-8132-E9A6-C608EB98F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646EC-D323-4620-B990-129302945705}" type="datetimeFigureOut">
              <a:rPr lang="it-IT" smtClean="0"/>
              <a:t>28/01/2026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8DA3B3-FB45-4D35-C8A4-D9AD227A0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AE3386-8F0A-F2C4-B6D7-43781013F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252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7C7A07-0F39-5277-C5AD-806892AB9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656" y="1550071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it-IT" b="1" dirty="0"/>
              <a:t>Rilevamento usura pala a partire dall’analisi del log di volo di un drone </a:t>
            </a:r>
            <a:r>
              <a:rPr lang="it-IT" b="1" dirty="0" err="1"/>
              <a:t>esarotore</a:t>
            </a:r>
            <a:endParaRPr lang="it-IT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0614B82-0509-66D6-3D44-4F0910A81BF0}"/>
              </a:ext>
            </a:extLst>
          </p:cNvPr>
          <p:cNvSpPr txBox="1"/>
          <p:nvPr/>
        </p:nvSpPr>
        <p:spPr>
          <a:xfrm>
            <a:off x="1121664" y="3937671"/>
            <a:ext cx="8150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i="1" dirty="0"/>
              <a:t>Revisione no. 1 (27 gennaio 2026)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061827F-B059-8BB4-66C6-96222D57145D}"/>
              </a:ext>
            </a:extLst>
          </p:cNvPr>
          <p:cNvSpPr txBox="1"/>
          <p:nvPr/>
        </p:nvSpPr>
        <p:spPr>
          <a:xfrm>
            <a:off x="1057656" y="5367703"/>
            <a:ext cx="5422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 cura di: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/>
              <a:t>Caterina Sabatini (S1121684)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/>
              <a:t>Matteo Stronati (S1122745)</a:t>
            </a:r>
          </a:p>
        </p:txBody>
      </p:sp>
    </p:spTree>
    <p:extLst>
      <p:ext uri="{BB962C8B-B14F-4D97-AF65-F5344CB8AC3E}">
        <p14:creationId xmlns:p14="http://schemas.microsoft.com/office/powerpoint/2010/main" val="96798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8345CA-41C1-65D0-D63B-952771ED5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+mn-lt"/>
              </a:rPr>
              <a:t>Attività svolte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6799A7-B887-62D9-7997-F89678D87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anchor="t"/>
          <a:lstStyle/>
          <a:p>
            <a:pPr marL="514350" indent="-514350">
              <a:buFont typeface="+mj-lt"/>
              <a:buAutoNum type="arabicPeriod"/>
            </a:pPr>
            <a:r>
              <a:rPr lang="it-IT" dirty="0"/>
              <a:t> Importazione del dataset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 Sincronizzazione dei dati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 Utilizzo del </a:t>
            </a:r>
            <a:r>
              <a:rPr lang="it-IT" i="1" dirty="0" err="1"/>
              <a:t>Diagnostic</a:t>
            </a:r>
            <a:r>
              <a:rPr lang="it-IT" i="1" dirty="0"/>
              <a:t> </a:t>
            </a:r>
            <a:r>
              <a:rPr lang="it-IT" i="1" dirty="0" err="1"/>
              <a:t>Feauture</a:t>
            </a:r>
            <a:r>
              <a:rPr lang="it-IT" i="1" dirty="0"/>
              <a:t> Designer</a:t>
            </a:r>
          </a:p>
        </p:txBody>
      </p:sp>
    </p:spTree>
    <p:extLst>
      <p:ext uri="{BB962C8B-B14F-4D97-AF65-F5344CB8AC3E}">
        <p14:creationId xmlns:p14="http://schemas.microsoft.com/office/powerpoint/2010/main" val="114152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BFA162-1EEB-0325-08CE-B11650AA82A0}"/>
              </a:ext>
            </a:extLst>
          </p:cNvPr>
          <p:cNvSpPr txBox="1">
            <a:spLocks/>
          </p:cNvSpPr>
          <p:nvPr/>
        </p:nvSpPr>
        <p:spPr>
          <a:xfrm>
            <a:off x="967509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latin typeface="+mn-lt"/>
              </a:rPr>
              <a:t>1. Importazione del dataset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A9DA00B-4EEC-CC4F-5FB3-4CADC97684FA}"/>
              </a:ext>
            </a:extLst>
          </p:cNvPr>
          <p:cNvSpPr txBox="1"/>
          <p:nvPr/>
        </p:nvSpPr>
        <p:spPr>
          <a:xfrm>
            <a:off x="4143225" y="2724709"/>
            <a:ext cx="64473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È stata creata la cartella </a:t>
            </a:r>
            <a:r>
              <a:rPr lang="it-IT" sz="2800" b="1" i="1" dirty="0" err="1"/>
              <a:t>raw</a:t>
            </a:r>
            <a:r>
              <a:rPr lang="it-IT" sz="2800" b="1" i="1" dirty="0"/>
              <a:t> data </a:t>
            </a:r>
            <a:r>
              <a:rPr lang="it-IT" sz="2800" b="1" dirty="0"/>
              <a:t> </a:t>
            </a:r>
            <a:r>
              <a:rPr lang="it-IT" sz="2800" dirty="0"/>
              <a:t>in cui sono stati salvati i file </a:t>
            </a:r>
            <a:r>
              <a:rPr lang="it-IT" sz="2800" i="1" dirty="0"/>
              <a:t>.</a:t>
            </a:r>
            <a:r>
              <a:rPr lang="it-IT" sz="2800" i="1" dirty="0" err="1"/>
              <a:t>mat</a:t>
            </a:r>
            <a:r>
              <a:rPr lang="it-IT" sz="2800" i="1" dirty="0"/>
              <a:t> </a:t>
            </a:r>
            <a:r>
              <a:rPr lang="it-IT" sz="2800" dirty="0"/>
              <a:t>da elaborare</a:t>
            </a:r>
            <a:endParaRPr lang="it-IT" sz="2800" i="1" dirty="0"/>
          </a:p>
        </p:txBody>
      </p:sp>
      <p:pic>
        <p:nvPicPr>
          <p:cNvPr id="7" name="Elemento grafico 6" descr="Apri cartella con riempimento a tinta unita">
            <a:extLst>
              <a:ext uri="{FF2B5EF4-FFF2-40B4-BE49-F238E27FC236}">
                <a16:creationId xmlns:a16="http://schemas.microsoft.com/office/drawing/2014/main" id="{DB9FC7C4-31E8-0F53-F4F0-90ADF8C4F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1470" y="2065275"/>
            <a:ext cx="2028698" cy="202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9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BCD2F-9F8A-E5E4-9B0F-E6EDC838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532284-64A5-E128-B00D-F032AF7B917C}"/>
              </a:ext>
            </a:extLst>
          </p:cNvPr>
          <p:cNvSpPr txBox="1">
            <a:spLocks/>
          </p:cNvSpPr>
          <p:nvPr/>
        </p:nvSpPr>
        <p:spPr>
          <a:xfrm>
            <a:off x="967509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latin typeface="+mn-lt"/>
              </a:rPr>
              <a:t>2. Sincronizzazione dei dati</a:t>
            </a:r>
          </a:p>
          <a:p>
            <a:endParaRPr lang="it-IT" b="1" dirty="0">
              <a:latin typeface="+mn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1A4E956-AD29-ED55-2F56-72B9CD22049C}"/>
              </a:ext>
            </a:extLst>
          </p:cNvPr>
          <p:cNvSpPr txBox="1"/>
          <p:nvPr/>
        </p:nvSpPr>
        <p:spPr>
          <a:xfrm>
            <a:off x="1098273" y="1429078"/>
            <a:ext cx="100208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Sono stati creati 4 script:</a:t>
            </a:r>
          </a:p>
          <a:p>
            <a:endParaRPr lang="it-IT" sz="2800" i="1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it-IT" sz="2800" b="1" i="1" dirty="0" err="1"/>
              <a:t>compare.m</a:t>
            </a:r>
            <a:r>
              <a:rPr lang="it-IT" sz="2800" dirty="0"/>
              <a:t>:</a:t>
            </a:r>
            <a:r>
              <a:rPr lang="it-IT" sz="2800" i="1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it-IT" sz="2800" b="1" i="1" dirty="0" err="1"/>
              <a:t>synchronizer.m</a:t>
            </a:r>
            <a:r>
              <a:rPr lang="it-IT" sz="2800" i="1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it-IT" sz="2800" b="1" i="1" dirty="0" err="1"/>
              <a:t>fun_synchronize.m</a:t>
            </a:r>
            <a:r>
              <a:rPr lang="it-IT" sz="2800" b="1" i="1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it-IT" sz="2800" b="1" i="1" dirty="0" err="1"/>
              <a:t>create_dataset.m</a:t>
            </a:r>
            <a:endParaRPr lang="it-IT" sz="2800" b="1" i="1" dirty="0"/>
          </a:p>
        </p:txBody>
      </p:sp>
    </p:spTree>
    <p:extLst>
      <p:ext uri="{BB962C8B-B14F-4D97-AF65-F5344CB8AC3E}">
        <p14:creationId xmlns:p14="http://schemas.microsoft.com/office/powerpoint/2010/main" val="415907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58819-B5EA-CDA4-4CCB-9D2133C4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669071A-3D44-945E-233D-448BD2865E55}"/>
              </a:ext>
            </a:extLst>
          </p:cNvPr>
          <p:cNvSpPr txBox="1"/>
          <p:nvPr/>
        </p:nvSpPr>
        <p:spPr>
          <a:xfrm>
            <a:off x="967509" y="2496600"/>
            <a:ext cx="4281147" cy="38324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8745288-16BA-9941-30C2-9B58CFE5FF97}"/>
              </a:ext>
            </a:extLst>
          </p:cNvPr>
          <p:cNvSpPr txBox="1">
            <a:spLocks/>
          </p:cNvSpPr>
          <p:nvPr/>
        </p:nvSpPr>
        <p:spPr>
          <a:xfrm>
            <a:off x="967509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i="1" dirty="0" err="1">
                <a:latin typeface="+mn-lt"/>
              </a:rPr>
              <a:t>compare.m</a:t>
            </a:r>
            <a:endParaRPr lang="it-IT" b="1" i="1" dirty="0">
              <a:latin typeface="+mn-lt"/>
            </a:endParaRPr>
          </a:p>
          <a:p>
            <a:endParaRPr lang="it-IT" b="1" dirty="0">
              <a:latin typeface="+mn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65CA6C5-FC7E-07C5-247A-702BE279DE08}"/>
              </a:ext>
            </a:extLst>
          </p:cNvPr>
          <p:cNvSpPr txBox="1"/>
          <p:nvPr/>
        </p:nvSpPr>
        <p:spPr>
          <a:xfrm>
            <a:off x="967509" y="1213634"/>
            <a:ext cx="10020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it-IT" altLang="it-IT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funzione allinea più dataset mantenendo solo le righe che hanno lo stesso </a:t>
            </a:r>
            <a:r>
              <a:rPr kumimoji="0" lang="it-IT" altLang="it-IT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timestamp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tutti i segnali.</a:t>
            </a:r>
            <a:endParaRPr lang="it-IT" sz="2800" i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94068D1-7905-1485-BF3E-9A70DF4F4B22}"/>
              </a:ext>
            </a:extLst>
          </p:cNvPr>
          <p:cNvSpPr txBox="1"/>
          <p:nvPr/>
        </p:nvSpPr>
        <p:spPr>
          <a:xfrm>
            <a:off x="1113813" y="2612348"/>
            <a:ext cx="796213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0" i="0" dirty="0" err="1">
                <a:solidFill>
                  <a:srgbClr val="0E00FF"/>
                </a:solidFill>
                <a:effectLst/>
                <a:latin typeface="Menlo"/>
              </a:rPr>
              <a:t>function</a:t>
            </a:r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 </a:t>
            </a:r>
            <a:r>
              <a:rPr lang="it-IT" sz="1200" b="0" i="0" dirty="0" err="1">
                <a:effectLst/>
                <a:latin typeface="Menlo"/>
              </a:rPr>
              <a:t>varargout</a:t>
            </a:r>
            <a:r>
              <a:rPr lang="it-IT" sz="1200" b="0" i="0" dirty="0">
                <a:effectLst/>
                <a:latin typeface="Menlo"/>
              </a:rPr>
              <a:t> = </a:t>
            </a:r>
            <a:r>
              <a:rPr lang="it-IT" sz="1200" b="0" i="0" dirty="0" err="1">
                <a:effectLst/>
                <a:latin typeface="Menlo"/>
              </a:rPr>
              <a:t>compareN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varargin</a:t>
            </a:r>
            <a:r>
              <a:rPr lang="it-IT" sz="1200" b="0" i="0" dirty="0">
                <a:effectLst/>
                <a:latin typeface="Menlo"/>
              </a:rPr>
              <a:t>)</a:t>
            </a: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>
                <a:effectLst/>
                <a:latin typeface="Menlo"/>
              </a:rPr>
              <a:t>N = </a:t>
            </a:r>
            <a:r>
              <a:rPr lang="it-IT" sz="1200" b="0" i="0" dirty="0" err="1">
                <a:effectLst/>
                <a:latin typeface="Menlo"/>
              </a:rPr>
              <a:t>nargin</a:t>
            </a:r>
            <a:r>
              <a:rPr lang="it-IT" sz="1200" b="0" i="0" dirty="0">
                <a:effectLst/>
                <a:latin typeface="Menlo"/>
              </a:rPr>
              <a:t>;</a:t>
            </a:r>
          </a:p>
          <a:p>
            <a:r>
              <a:rPr lang="it-IT" sz="1200" b="0" i="0" dirty="0">
                <a:effectLst/>
                <a:latin typeface="Menlo"/>
              </a:rPr>
              <a:t>time = </a:t>
            </a:r>
            <a:r>
              <a:rPr lang="it-IT" sz="1200" b="0" i="0" dirty="0" err="1">
                <a:effectLst/>
                <a:latin typeface="Menlo"/>
              </a:rPr>
              <a:t>varargin</a:t>
            </a:r>
            <a:r>
              <a:rPr lang="it-IT" sz="1200" b="0" i="0" dirty="0">
                <a:effectLst/>
                <a:latin typeface="Menlo"/>
              </a:rPr>
              <a:t>{1}(:,2);</a:t>
            </a: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it-IT" sz="1200" b="0" i="0" dirty="0">
                <a:effectLst/>
                <a:latin typeface="Menlo"/>
              </a:rPr>
              <a:t>k = 2:N</a:t>
            </a:r>
          </a:p>
          <a:p>
            <a:r>
              <a:rPr lang="it-IT" sz="1200" b="0" i="0" dirty="0">
                <a:effectLst/>
                <a:latin typeface="Menlo"/>
              </a:rPr>
              <a:t>time = </a:t>
            </a:r>
            <a:r>
              <a:rPr lang="it-IT" sz="1200" b="0" i="0" dirty="0" err="1">
                <a:effectLst/>
                <a:latin typeface="Menlo"/>
              </a:rPr>
              <a:t>intersect</a:t>
            </a:r>
            <a:r>
              <a:rPr lang="it-IT" sz="1200" b="0" i="0" dirty="0">
                <a:effectLst/>
                <a:latin typeface="Menlo"/>
              </a:rPr>
              <a:t>(time, </a:t>
            </a:r>
            <a:r>
              <a:rPr lang="it-IT" sz="1200" b="0" i="0" dirty="0" err="1">
                <a:effectLst/>
                <a:latin typeface="Menlo"/>
              </a:rPr>
              <a:t>varargin</a:t>
            </a:r>
            <a:r>
              <a:rPr lang="it-IT" sz="1200" b="0" i="0" dirty="0">
                <a:effectLst/>
                <a:latin typeface="Menlo"/>
              </a:rPr>
              <a:t>{k}(:,2), 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it-IT" sz="1200" b="0" i="0" dirty="0" err="1">
                <a:solidFill>
                  <a:srgbClr val="A709F5"/>
                </a:solidFill>
                <a:effectLst/>
                <a:latin typeface="Menlo"/>
              </a:rPr>
              <a:t>stable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it-IT" sz="1200" b="0" i="0" dirty="0">
              <a:effectLst/>
              <a:latin typeface="Menlo"/>
            </a:endParaRP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it-IT" sz="1200" b="0" i="0" dirty="0">
                <a:effectLst/>
                <a:latin typeface="Menlo"/>
              </a:rPr>
              <a:t>k = 1:N</a:t>
            </a:r>
          </a:p>
          <a:p>
            <a:r>
              <a:rPr lang="it-IT" sz="1200" b="0" i="0" dirty="0">
                <a:effectLst/>
                <a:latin typeface="Menlo"/>
              </a:rPr>
              <a:t>[~, </a:t>
            </a:r>
            <a:r>
              <a:rPr lang="it-IT" sz="1200" b="0" i="0" dirty="0" err="1">
                <a:effectLst/>
                <a:latin typeface="Menlo"/>
              </a:rPr>
              <a:t>ia</a:t>
            </a:r>
            <a:r>
              <a:rPr lang="it-IT" sz="1200" b="0" i="0" dirty="0">
                <a:effectLst/>
                <a:latin typeface="Menlo"/>
              </a:rPr>
              <a:t>] = </a:t>
            </a:r>
            <a:r>
              <a:rPr lang="it-IT" sz="1200" b="0" i="0" dirty="0" err="1">
                <a:effectLst/>
                <a:latin typeface="Menlo"/>
              </a:rPr>
              <a:t>ismember</a:t>
            </a:r>
            <a:r>
              <a:rPr lang="it-IT" sz="1200" b="0" i="0" dirty="0">
                <a:effectLst/>
                <a:latin typeface="Menlo"/>
              </a:rPr>
              <a:t>(time, </a:t>
            </a:r>
            <a:r>
              <a:rPr lang="it-IT" sz="1200" b="0" i="0" dirty="0" err="1">
                <a:effectLst/>
                <a:latin typeface="Menlo"/>
              </a:rPr>
              <a:t>varargin</a:t>
            </a:r>
            <a:r>
              <a:rPr lang="it-IT" sz="1200" b="0" i="0" dirty="0">
                <a:effectLst/>
                <a:latin typeface="Menlo"/>
              </a:rPr>
              <a:t>{k}(:,2));</a:t>
            </a:r>
          </a:p>
          <a:p>
            <a:r>
              <a:rPr lang="it-IT" sz="1200" b="0" i="0" dirty="0" err="1">
                <a:effectLst/>
                <a:latin typeface="Menlo"/>
              </a:rPr>
              <a:t>varargout</a:t>
            </a:r>
            <a:r>
              <a:rPr lang="it-IT" sz="1200" b="0" i="0" dirty="0">
                <a:effectLst/>
                <a:latin typeface="Menlo"/>
              </a:rPr>
              <a:t>{k} = </a:t>
            </a:r>
            <a:r>
              <a:rPr lang="it-IT" sz="1200" b="0" i="0" dirty="0" err="1">
                <a:effectLst/>
                <a:latin typeface="Menlo"/>
              </a:rPr>
              <a:t>varargin</a:t>
            </a:r>
            <a:r>
              <a:rPr lang="it-IT" sz="1200" b="0" i="0" dirty="0">
                <a:effectLst/>
                <a:latin typeface="Menlo"/>
              </a:rPr>
              <a:t>{k}(</a:t>
            </a:r>
            <a:r>
              <a:rPr lang="it-IT" sz="1200" b="0" i="0" dirty="0" err="1">
                <a:effectLst/>
                <a:latin typeface="Menlo"/>
              </a:rPr>
              <a:t>ia</a:t>
            </a:r>
            <a:r>
              <a:rPr lang="it-IT" sz="1200" b="0" i="0" dirty="0">
                <a:effectLst/>
                <a:latin typeface="Menlo"/>
              </a:rPr>
              <a:t>,:);</a:t>
            </a:r>
          </a:p>
          <a:p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it-IT" sz="1200" b="0" i="0" dirty="0">
              <a:effectLst/>
              <a:latin typeface="Menlo"/>
            </a:endParaRP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it-IT" sz="12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13310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0A472-E3D9-1A06-8702-A1D81777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89AE31-9768-E1D1-79C3-446FE8BC9033}"/>
              </a:ext>
            </a:extLst>
          </p:cNvPr>
          <p:cNvSpPr txBox="1">
            <a:spLocks/>
          </p:cNvSpPr>
          <p:nvPr/>
        </p:nvSpPr>
        <p:spPr>
          <a:xfrm>
            <a:off x="967509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i="1" dirty="0" err="1">
                <a:latin typeface="+mn-lt"/>
              </a:rPr>
              <a:t>synchronizer.m</a:t>
            </a:r>
            <a:endParaRPr lang="it-IT" b="1" i="1" dirty="0">
              <a:latin typeface="+mn-lt"/>
            </a:endParaRPr>
          </a:p>
          <a:p>
            <a:endParaRPr lang="it-IT" b="1" dirty="0">
              <a:latin typeface="+mn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DC2DFB4-7FFF-9078-7352-1BEB95A81B9D}"/>
              </a:ext>
            </a:extLst>
          </p:cNvPr>
          <p:cNvSpPr txBox="1"/>
          <p:nvPr/>
        </p:nvSpPr>
        <p:spPr>
          <a:xfrm>
            <a:off x="903501" y="2137178"/>
            <a:ext cx="100208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funzione carica i dati del volo e sincronizza tutti i sensori su un asse temporale comune utilizzando una strategia </a:t>
            </a:r>
            <a:r>
              <a:rPr kumimoji="0" lang="it-IT" alt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ZOH</a:t>
            </a: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ricampiona i segnali a frequenza uniforme, rimuove le fasi di decollo e atterraggio e salva il dataset risultante.</a:t>
            </a:r>
          </a:p>
        </p:txBody>
      </p:sp>
    </p:spTree>
    <p:extLst>
      <p:ext uri="{BB962C8B-B14F-4D97-AF65-F5344CB8AC3E}">
        <p14:creationId xmlns:p14="http://schemas.microsoft.com/office/powerpoint/2010/main" val="3608966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90C3B-1462-6831-9D66-824BB89C7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F78916-83F1-04CC-6455-2316EE5E4DA6}"/>
              </a:ext>
            </a:extLst>
          </p:cNvPr>
          <p:cNvSpPr txBox="1">
            <a:spLocks/>
          </p:cNvSpPr>
          <p:nvPr/>
        </p:nvSpPr>
        <p:spPr>
          <a:xfrm>
            <a:off x="967509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i="1" dirty="0" err="1">
                <a:latin typeface="+mn-lt"/>
              </a:rPr>
              <a:t>fun_synchronize.m</a:t>
            </a:r>
            <a:endParaRPr lang="it-IT" b="1" i="1" dirty="0">
              <a:latin typeface="+mn-lt"/>
            </a:endParaRPr>
          </a:p>
          <a:p>
            <a:endParaRPr lang="it-IT" b="1" dirty="0">
              <a:latin typeface="+mn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4051CE9-7174-E1D6-D9BE-0196ED77AB7F}"/>
              </a:ext>
            </a:extLst>
          </p:cNvPr>
          <p:cNvSpPr txBox="1"/>
          <p:nvPr/>
        </p:nvSpPr>
        <p:spPr>
          <a:xfrm>
            <a:off x="903501" y="2137178"/>
            <a:ext cx="100208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Questo script esegue la sincronizzazione tutti i file .</a:t>
            </a:r>
            <a:r>
              <a:rPr kumimoji="0" lang="it-IT" altLang="it-IT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</a:t>
            </a: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</a:t>
            </a: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cartella </a:t>
            </a:r>
            <a:r>
              <a:rPr kumimoji="0" lang="it-IT" altLang="it-IT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raw_data</a:t>
            </a: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richiamando la funzione </a:t>
            </a:r>
            <a:r>
              <a:rPr kumimoji="0" lang="it-IT" altLang="it-I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synchronizer</a:t>
            </a: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ciascun volo, e salva i dati sincronizzati e ricampionati a 350 Hz nella cartella </a:t>
            </a:r>
            <a:r>
              <a:rPr kumimoji="0" lang="it-IT" altLang="it-IT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synchronized_data</a:t>
            </a:r>
            <a:endParaRPr kumimoji="0" lang="it-IT" altLang="it-IT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282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B586-2108-C356-2491-1716A6C0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94BCA1C1-F1C2-1F46-0D61-95935CD35B26}"/>
              </a:ext>
            </a:extLst>
          </p:cNvPr>
          <p:cNvSpPr txBox="1"/>
          <p:nvPr/>
        </p:nvSpPr>
        <p:spPr>
          <a:xfrm>
            <a:off x="967509" y="1316736"/>
            <a:ext cx="5029200" cy="4893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D3E28D2-AFC9-9771-66B4-E8CB2D3B4D6D}"/>
              </a:ext>
            </a:extLst>
          </p:cNvPr>
          <p:cNvSpPr txBox="1"/>
          <p:nvPr/>
        </p:nvSpPr>
        <p:spPr>
          <a:xfrm>
            <a:off x="6405141" y="1313688"/>
            <a:ext cx="5029200" cy="4893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1AB5C98-BA55-05FC-7D33-2127F92254A9}"/>
              </a:ext>
            </a:extLst>
          </p:cNvPr>
          <p:cNvSpPr txBox="1">
            <a:spLocks/>
          </p:cNvSpPr>
          <p:nvPr/>
        </p:nvSpPr>
        <p:spPr>
          <a:xfrm>
            <a:off x="967509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i="1" dirty="0" err="1">
                <a:latin typeface="+mn-lt"/>
              </a:rPr>
              <a:t>fun_synchronize.m</a:t>
            </a:r>
            <a:endParaRPr lang="it-IT" b="1" i="1" dirty="0">
              <a:latin typeface="+mn-lt"/>
            </a:endParaRPr>
          </a:p>
          <a:p>
            <a:endParaRPr lang="it-IT" b="1" dirty="0">
              <a:latin typeface="+mn-lt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46E1393-4BCE-4CB7-D029-D74B4915430D}"/>
              </a:ext>
            </a:extLst>
          </p:cNvPr>
          <p:cNvSpPr txBox="1"/>
          <p:nvPr/>
        </p:nvSpPr>
        <p:spPr>
          <a:xfrm>
            <a:off x="1260117" y="1436338"/>
            <a:ext cx="11521440" cy="477053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it-IT" sz="1200" b="0" i="0" dirty="0">
                <a:effectLst/>
                <a:latin typeface="Menlo"/>
              </a:rPr>
              <a:t>clear; </a:t>
            </a:r>
            <a:r>
              <a:rPr lang="it-IT" sz="1200" b="0" i="0" dirty="0" err="1">
                <a:effectLst/>
                <a:latin typeface="Menlo"/>
              </a:rPr>
              <a:t>clc</a:t>
            </a:r>
            <a:r>
              <a:rPr lang="it-IT" sz="1200" b="0" i="0" dirty="0">
                <a:effectLst/>
                <a:latin typeface="Menlo"/>
              </a:rPr>
              <a:t>;</a:t>
            </a: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>
                <a:solidFill>
                  <a:srgbClr val="008013"/>
                </a:solidFill>
                <a:effectLst/>
                <a:latin typeface="Menlo"/>
              </a:rPr>
              <a:t>%% SETUP PERCORSI</a:t>
            </a: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 err="1">
                <a:effectLst/>
                <a:latin typeface="Menlo"/>
              </a:rPr>
              <a:t>script_folder</a:t>
            </a:r>
            <a:r>
              <a:rPr lang="it-IT" sz="1200" b="0" i="0" dirty="0">
                <a:effectLst/>
                <a:latin typeface="Menlo"/>
              </a:rPr>
              <a:t> = </a:t>
            </a:r>
            <a:r>
              <a:rPr lang="it-IT" sz="1200" b="0" i="0" dirty="0" err="1">
                <a:effectLst/>
                <a:latin typeface="Menlo"/>
              </a:rPr>
              <a:t>fileparts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mfilename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it-IT" sz="1200" b="0" i="0" dirty="0" err="1">
                <a:solidFill>
                  <a:srgbClr val="A709F5"/>
                </a:solidFill>
                <a:effectLst/>
                <a:latin typeface="Menlo"/>
              </a:rPr>
              <a:t>fullpath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it-IT" sz="1200" b="0" i="0" dirty="0">
                <a:effectLst/>
                <a:latin typeface="Menlo"/>
              </a:rPr>
              <a:t>));</a:t>
            </a:r>
          </a:p>
          <a:p>
            <a:r>
              <a:rPr lang="it-IT" sz="1200" b="0" i="0" dirty="0" err="1">
                <a:effectLst/>
                <a:latin typeface="Menlo"/>
              </a:rPr>
              <a:t>project_folder</a:t>
            </a:r>
            <a:r>
              <a:rPr lang="it-IT" sz="1200" b="0" i="0" dirty="0">
                <a:effectLst/>
                <a:latin typeface="Menlo"/>
              </a:rPr>
              <a:t> = </a:t>
            </a:r>
            <a:r>
              <a:rPr lang="it-IT" sz="1200" b="0" i="0" dirty="0" err="1">
                <a:effectLst/>
                <a:latin typeface="Menlo"/>
              </a:rPr>
              <a:t>fileparts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script_folder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r>
              <a:rPr lang="it-IT" sz="1200" b="0" i="0" dirty="0" err="1">
                <a:effectLst/>
                <a:latin typeface="Menlo"/>
              </a:rPr>
              <a:t>raw_data_folder</a:t>
            </a:r>
            <a:r>
              <a:rPr lang="it-IT" sz="1200" b="0" i="0" dirty="0">
                <a:effectLst/>
                <a:latin typeface="Menlo"/>
              </a:rPr>
              <a:t> = </a:t>
            </a:r>
            <a:r>
              <a:rPr lang="it-IT" sz="1200" b="0" i="0" dirty="0" err="1">
                <a:effectLst/>
                <a:latin typeface="Menlo"/>
              </a:rPr>
              <a:t>fullfile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project_folder</a:t>
            </a:r>
            <a:r>
              <a:rPr lang="it-IT" sz="1200" b="0" i="0" dirty="0">
                <a:effectLst/>
                <a:latin typeface="Menlo"/>
              </a:rPr>
              <a:t>, 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it-IT" sz="1200" b="0" i="0" dirty="0" err="1">
                <a:solidFill>
                  <a:srgbClr val="A709F5"/>
                </a:solidFill>
                <a:effectLst/>
                <a:latin typeface="Menlo"/>
              </a:rPr>
              <a:t>raw_data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>
                <a:solidFill>
                  <a:srgbClr val="008013"/>
                </a:solidFill>
                <a:effectLst/>
                <a:latin typeface="Menlo"/>
              </a:rPr>
              <a:t>% Creazione cartella di output nel caso in cui non esista</a:t>
            </a: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 err="1">
                <a:effectLst/>
                <a:latin typeface="Menlo"/>
              </a:rPr>
              <a:t>output_folder</a:t>
            </a:r>
            <a:r>
              <a:rPr lang="it-IT" sz="1200" b="0" i="0" dirty="0">
                <a:effectLst/>
                <a:latin typeface="Menlo"/>
              </a:rPr>
              <a:t> = </a:t>
            </a:r>
            <a:r>
              <a:rPr lang="it-IT" sz="1200" b="0" i="0" dirty="0" err="1">
                <a:effectLst/>
                <a:latin typeface="Menlo"/>
              </a:rPr>
              <a:t>fullfile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project_folder</a:t>
            </a:r>
            <a:r>
              <a:rPr lang="it-IT" sz="1200" b="0" i="0" dirty="0">
                <a:effectLst/>
                <a:latin typeface="Menlo"/>
              </a:rPr>
              <a:t>, 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it-IT" sz="1200" b="0" i="0" dirty="0" err="1">
                <a:solidFill>
                  <a:srgbClr val="A709F5"/>
                </a:solidFill>
                <a:effectLst/>
                <a:latin typeface="Menlo"/>
              </a:rPr>
              <a:t>synchronized_data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 err="1">
                <a:solidFill>
                  <a:srgbClr val="0E00FF"/>
                </a:solidFill>
                <a:effectLst/>
                <a:latin typeface="Menlo"/>
              </a:rPr>
              <a:t>if</a:t>
            </a:r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 </a:t>
            </a:r>
            <a:r>
              <a:rPr lang="it-IT" sz="1200" b="0" i="0" dirty="0">
                <a:effectLst/>
                <a:latin typeface="Menlo"/>
              </a:rPr>
              <a:t>~</a:t>
            </a:r>
            <a:r>
              <a:rPr lang="it-IT" sz="1200" b="0" i="0" dirty="0" err="1">
                <a:effectLst/>
                <a:latin typeface="Menlo"/>
              </a:rPr>
              <a:t>exist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output_folder</a:t>
            </a:r>
            <a:r>
              <a:rPr lang="it-IT" sz="1200" b="0" i="0" dirty="0">
                <a:effectLst/>
                <a:latin typeface="Menlo"/>
              </a:rPr>
              <a:t>, 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'dir'</a:t>
            </a:r>
            <a:r>
              <a:rPr lang="it-IT" sz="1200" b="0" i="0" dirty="0">
                <a:effectLst/>
                <a:latin typeface="Menlo"/>
              </a:rPr>
              <a:t>)</a:t>
            </a:r>
          </a:p>
          <a:p>
            <a:r>
              <a:rPr lang="it-IT" sz="1200" b="0" i="0" dirty="0" err="1">
                <a:effectLst/>
                <a:latin typeface="Menlo"/>
              </a:rPr>
              <a:t>mkdir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output_folder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r>
              <a:rPr lang="it-IT" sz="1200" b="0" i="0" dirty="0" err="1">
                <a:effectLst/>
                <a:latin typeface="Menlo"/>
              </a:rPr>
              <a:t>fprintf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'Cartella creata: %s\n'</a:t>
            </a:r>
            <a:r>
              <a:rPr lang="it-IT" sz="1200" b="0" i="0" dirty="0">
                <a:effectLst/>
                <a:latin typeface="Menlo"/>
              </a:rPr>
              <a:t>, </a:t>
            </a:r>
            <a:r>
              <a:rPr lang="it-IT" sz="1200" b="0" i="0" dirty="0" err="1">
                <a:effectLst/>
                <a:latin typeface="Menlo"/>
              </a:rPr>
              <a:t>output_folder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else</a:t>
            </a: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 err="1">
                <a:effectLst/>
                <a:latin typeface="Menlo"/>
              </a:rPr>
              <a:t>fprintf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'Cartella di output già esistente.\n'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it-IT" sz="1200" b="0" i="0" dirty="0">
              <a:effectLst/>
              <a:latin typeface="Menlo"/>
            </a:endParaRP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>
                <a:solidFill>
                  <a:srgbClr val="008013"/>
                </a:solidFill>
                <a:effectLst/>
                <a:latin typeface="Menlo"/>
              </a:rPr>
              <a:t>%% TROVA TUTTI I FILE .MAT</a:t>
            </a: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 err="1">
                <a:effectLst/>
                <a:latin typeface="Menlo"/>
              </a:rPr>
              <a:t>file_list</a:t>
            </a:r>
            <a:r>
              <a:rPr lang="it-IT" sz="1200" b="0" i="0" dirty="0">
                <a:effectLst/>
                <a:latin typeface="Menlo"/>
              </a:rPr>
              <a:t> = dir(</a:t>
            </a:r>
            <a:r>
              <a:rPr lang="it-IT" sz="1200" b="0" i="0" dirty="0" err="1">
                <a:effectLst/>
                <a:latin typeface="Menlo"/>
              </a:rPr>
              <a:t>fullfile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raw_data_folder</a:t>
            </a:r>
            <a:r>
              <a:rPr lang="it-IT" sz="1200" b="0" i="0" dirty="0">
                <a:effectLst/>
                <a:latin typeface="Menlo"/>
              </a:rPr>
              <a:t>, 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'*.</a:t>
            </a:r>
            <a:r>
              <a:rPr lang="it-IT" sz="1200" b="0" i="0" dirty="0" err="1">
                <a:solidFill>
                  <a:srgbClr val="A709F5"/>
                </a:solidFill>
                <a:effectLst/>
                <a:latin typeface="Menlo"/>
              </a:rPr>
              <a:t>mat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it-IT" sz="1200" b="0" i="0" dirty="0">
                <a:effectLst/>
                <a:latin typeface="Menlo"/>
              </a:rPr>
              <a:t>));</a:t>
            </a:r>
          </a:p>
          <a:p>
            <a:r>
              <a:rPr lang="it-IT" sz="1200" b="0" i="0" dirty="0" err="1">
                <a:effectLst/>
                <a:latin typeface="Menlo"/>
              </a:rPr>
              <a:t>n_files</a:t>
            </a:r>
            <a:r>
              <a:rPr lang="it-IT" sz="1200" b="0" i="0" dirty="0">
                <a:effectLst/>
                <a:latin typeface="Menlo"/>
              </a:rPr>
              <a:t> = </a:t>
            </a:r>
            <a:r>
              <a:rPr lang="it-IT" sz="1200" b="0" i="0" dirty="0" err="1">
                <a:effectLst/>
                <a:latin typeface="Menlo"/>
              </a:rPr>
              <a:t>length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file_list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 err="1">
                <a:effectLst/>
                <a:latin typeface="Menlo"/>
              </a:rPr>
              <a:t>fprintf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'\n=== SINCRONIZZAZIONE BATCH ===\n'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r>
              <a:rPr lang="it-IT" sz="1200" b="0" i="0" dirty="0" err="1">
                <a:effectLst/>
                <a:latin typeface="Menlo"/>
              </a:rPr>
              <a:t>fprintf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'Trovati %d file\n\n'</a:t>
            </a:r>
            <a:r>
              <a:rPr lang="it-IT" sz="1200" b="0" i="0" dirty="0">
                <a:effectLst/>
                <a:latin typeface="Menlo"/>
              </a:rPr>
              <a:t>, </a:t>
            </a:r>
            <a:r>
              <a:rPr lang="it-IT" sz="1200" b="0" i="0" dirty="0" err="1">
                <a:effectLst/>
                <a:latin typeface="Menlo"/>
              </a:rPr>
              <a:t>n_files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>
                <a:solidFill>
                  <a:srgbClr val="008013"/>
                </a:solidFill>
                <a:effectLst/>
                <a:latin typeface="Menlo"/>
              </a:rPr>
              <a:t>%% PROCESSA TUTTI I FILE</a:t>
            </a: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it-IT" sz="1200" b="0" i="0" dirty="0">
                <a:effectLst/>
                <a:latin typeface="Menlo"/>
              </a:rPr>
              <a:t>i = 1:n_files</a:t>
            </a:r>
          </a:p>
          <a:p>
            <a:r>
              <a:rPr lang="it-IT" sz="1200" b="0" i="0" dirty="0" err="1">
                <a:effectLst/>
                <a:latin typeface="Menlo"/>
              </a:rPr>
              <a:t>filename</a:t>
            </a:r>
            <a:r>
              <a:rPr lang="it-IT" sz="1200" b="0" i="0" dirty="0">
                <a:effectLst/>
                <a:latin typeface="Menlo"/>
              </a:rPr>
              <a:t> = </a:t>
            </a:r>
            <a:r>
              <a:rPr lang="it-IT" sz="1200" b="0" i="0" dirty="0" err="1">
                <a:effectLst/>
                <a:latin typeface="Menlo"/>
              </a:rPr>
              <a:t>file_list</a:t>
            </a:r>
            <a:r>
              <a:rPr lang="it-IT" sz="1200" b="0" i="0" dirty="0">
                <a:effectLst/>
                <a:latin typeface="Menlo"/>
              </a:rPr>
              <a:t>(i).name;</a:t>
            </a:r>
          </a:p>
          <a:p>
            <a:r>
              <a:rPr lang="it-IT" sz="1200" b="0" i="0" dirty="0" err="1">
                <a:effectLst/>
                <a:latin typeface="Menlo"/>
              </a:rPr>
              <a:t>input_path</a:t>
            </a:r>
            <a:r>
              <a:rPr lang="it-IT" sz="1200" b="0" i="0" dirty="0">
                <a:effectLst/>
                <a:latin typeface="Menlo"/>
              </a:rPr>
              <a:t> = </a:t>
            </a:r>
            <a:r>
              <a:rPr lang="it-IT" sz="1200" b="0" i="0" dirty="0" err="1">
                <a:effectLst/>
                <a:latin typeface="Menlo"/>
              </a:rPr>
              <a:t>fullfile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raw_data_folder</a:t>
            </a:r>
            <a:r>
              <a:rPr lang="it-IT" sz="1200" b="0" i="0" dirty="0">
                <a:effectLst/>
                <a:latin typeface="Menlo"/>
              </a:rPr>
              <a:t>, </a:t>
            </a:r>
            <a:r>
              <a:rPr lang="it-IT" sz="1200" b="0" i="0" dirty="0" err="1">
                <a:effectLst/>
                <a:latin typeface="Menlo"/>
              </a:rPr>
              <a:t>filename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r>
              <a:rPr lang="it-IT" sz="1200" b="0" i="0" dirty="0" err="1">
                <a:effectLst/>
                <a:latin typeface="Menlo"/>
              </a:rPr>
              <a:t>fprintf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'[%2d/%2d] Processando: %s ... '</a:t>
            </a:r>
            <a:r>
              <a:rPr lang="it-IT" sz="1200" b="0" i="0" dirty="0">
                <a:effectLst/>
                <a:latin typeface="Menlo"/>
              </a:rPr>
              <a:t>, i, </a:t>
            </a:r>
            <a:r>
              <a:rPr lang="it-IT" sz="1200" b="0" i="0" dirty="0" err="1">
                <a:effectLst/>
                <a:latin typeface="Menlo"/>
              </a:rPr>
              <a:t>n_files</a:t>
            </a:r>
            <a:r>
              <a:rPr lang="it-IT" sz="1200" b="0" i="0" dirty="0">
                <a:effectLst/>
                <a:latin typeface="Menlo"/>
              </a:rPr>
              <a:t>, </a:t>
            </a:r>
            <a:r>
              <a:rPr lang="it-IT" sz="1200" b="0" i="0" dirty="0" err="1">
                <a:effectLst/>
                <a:latin typeface="Menlo"/>
              </a:rPr>
              <a:t>filename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r>
              <a:rPr lang="it-IT" sz="1200" b="0" i="0" dirty="0">
                <a:solidFill>
                  <a:srgbClr val="008013"/>
                </a:solidFill>
                <a:effectLst/>
                <a:latin typeface="Menlo"/>
              </a:rPr>
              <a:t>% CHIAMA LA FUNZIONE</a:t>
            </a: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>
                <a:effectLst/>
                <a:latin typeface="Menlo"/>
              </a:rPr>
              <a:t>Data = </a:t>
            </a:r>
            <a:r>
              <a:rPr lang="it-IT" sz="1200" b="0" i="0" dirty="0" err="1">
                <a:effectLst/>
                <a:latin typeface="Menlo"/>
              </a:rPr>
              <a:t>synchronizer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 err="1">
                <a:effectLst/>
                <a:latin typeface="Menlo"/>
              </a:rPr>
              <a:t>input_path</a:t>
            </a:r>
            <a:r>
              <a:rPr lang="it-IT" sz="1200" b="0" i="0" dirty="0">
                <a:effectLst/>
                <a:latin typeface="Menlo"/>
              </a:rPr>
              <a:t>, 350);</a:t>
            </a:r>
          </a:p>
          <a:p>
            <a:r>
              <a:rPr lang="it-IT" sz="1200" b="0" i="0" dirty="0" err="1">
                <a:effectLst/>
                <a:latin typeface="Menlo"/>
              </a:rPr>
              <a:t>fprintf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'File salvato correttamente\n'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r>
              <a:rPr lang="it-IT" sz="12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it-IT" sz="1200" b="0" i="0" dirty="0">
              <a:effectLst/>
              <a:latin typeface="Menlo"/>
            </a:endParaRPr>
          </a:p>
          <a:p>
            <a:br>
              <a:rPr lang="it-IT" sz="1200" b="0" i="0" dirty="0">
                <a:effectLst/>
                <a:latin typeface="Menlo"/>
              </a:rPr>
            </a:br>
            <a:endParaRPr lang="it-IT" sz="1200" b="0" i="0" dirty="0">
              <a:effectLst/>
              <a:latin typeface="Menlo"/>
            </a:endParaRPr>
          </a:p>
          <a:p>
            <a:r>
              <a:rPr lang="it-IT" sz="1200" b="0" i="0" dirty="0" err="1">
                <a:effectLst/>
                <a:latin typeface="Menlo"/>
              </a:rPr>
              <a:t>fprintf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'\n=== COMPLETATO ===\n'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  <a:p>
            <a:r>
              <a:rPr lang="it-IT" sz="1200" b="0" i="0" dirty="0" err="1">
                <a:effectLst/>
                <a:latin typeface="Menlo"/>
              </a:rPr>
              <a:t>fprintf</a:t>
            </a:r>
            <a:r>
              <a:rPr lang="it-IT" sz="1200" b="0" i="0" dirty="0">
                <a:effectLst/>
                <a:latin typeface="Menlo"/>
              </a:rPr>
              <a:t>(</a:t>
            </a:r>
            <a:r>
              <a:rPr lang="it-IT" sz="1200" b="0" i="0" dirty="0">
                <a:solidFill>
                  <a:srgbClr val="A709F5"/>
                </a:solidFill>
                <a:effectLst/>
                <a:latin typeface="Menlo"/>
              </a:rPr>
              <a:t>'Tutti i %d file sono stati sincronizzati\n\n'</a:t>
            </a:r>
            <a:r>
              <a:rPr lang="it-IT" sz="1200" b="0" i="0" dirty="0">
                <a:effectLst/>
                <a:latin typeface="Menlo"/>
              </a:rPr>
              <a:t>, </a:t>
            </a:r>
            <a:r>
              <a:rPr lang="it-IT" sz="1200" b="0" i="0" dirty="0" err="1">
                <a:effectLst/>
                <a:latin typeface="Menlo"/>
              </a:rPr>
              <a:t>n_files</a:t>
            </a:r>
            <a:r>
              <a:rPr lang="it-IT" sz="1200" b="0" i="0" dirty="0">
                <a:effectLst/>
                <a:latin typeface="Menl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05359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18A07-4E8B-C207-01DA-9DA76628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64F93E-8D24-6786-4378-F29F576E542A}"/>
              </a:ext>
            </a:extLst>
          </p:cNvPr>
          <p:cNvSpPr txBox="1">
            <a:spLocks/>
          </p:cNvSpPr>
          <p:nvPr/>
        </p:nvSpPr>
        <p:spPr>
          <a:xfrm>
            <a:off x="967509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i="1" dirty="0" err="1">
                <a:latin typeface="+mn-lt"/>
              </a:rPr>
              <a:t>create_dataset.m</a:t>
            </a:r>
            <a:endParaRPr lang="it-IT" b="1" i="1" dirty="0">
              <a:latin typeface="+mn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6CD3B7-A6DB-1C5C-8CA3-02F5CD70D57A}"/>
              </a:ext>
            </a:extLst>
          </p:cNvPr>
          <p:cNvSpPr txBox="1"/>
          <p:nvPr/>
        </p:nvSpPr>
        <p:spPr>
          <a:xfrm>
            <a:off x="903501" y="2137178"/>
            <a:ext cx="100208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Questo script crea un dataset per il training combinando tutti i file contenuti in </a:t>
            </a:r>
            <a:r>
              <a:rPr kumimoji="0" lang="it-IT" altLang="it-IT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synchronized_data</a:t>
            </a: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 ogni volo, estrae le variabili, le converte in </a:t>
            </a:r>
            <a:r>
              <a:rPr kumimoji="0" lang="it-IT" altLang="it-IT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timetable</a:t>
            </a: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frequenza </a:t>
            </a:r>
            <a:r>
              <a:rPr kumimoji="0" lang="it-IT" altLang="it-IT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Fs=350 Hz</a:t>
            </a: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 costruisce una tabella (</a:t>
            </a:r>
            <a:r>
              <a:rPr kumimoji="0" lang="it-IT" altLang="it-IT" sz="2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dataTable</a:t>
            </a: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con tutte le misurazioni e il </a:t>
            </a:r>
            <a:r>
              <a:rPr kumimoji="0" lang="it-IT" altLang="it-IT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FaultCode</a:t>
            </a:r>
            <a:r>
              <a:rPr kumimoji="0" lang="it-IT" altLang="it-IT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associato.</a:t>
            </a:r>
          </a:p>
        </p:txBody>
      </p:sp>
    </p:spTree>
    <p:extLst>
      <p:ext uri="{BB962C8B-B14F-4D97-AF65-F5344CB8AC3E}">
        <p14:creationId xmlns:p14="http://schemas.microsoft.com/office/powerpoint/2010/main" val="3879394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A45D168-CD7E-837E-55E7-BB0B502F6751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3. </a:t>
            </a:r>
            <a:r>
              <a:rPr lang="it-IT" b="1" dirty="0" err="1"/>
              <a:t>Diagnostic</a:t>
            </a:r>
            <a:r>
              <a:rPr lang="it-IT" b="1" dirty="0"/>
              <a:t> </a:t>
            </a:r>
            <a:r>
              <a:rPr lang="it-IT" b="1" dirty="0" err="1"/>
              <a:t>Feauture</a:t>
            </a:r>
            <a:r>
              <a:rPr lang="it-IT" b="1" dirty="0"/>
              <a:t> Designer</a:t>
            </a:r>
          </a:p>
        </p:txBody>
      </p:sp>
      <p:pic>
        <p:nvPicPr>
          <p:cNvPr id="6" name="Immagine 5" descr="Immagine che contiene testo, schermata, numero, Parallelo&#10;&#10;Descrizione generata automaticamente">
            <a:extLst>
              <a:ext uri="{FF2B5EF4-FFF2-40B4-BE49-F238E27FC236}">
                <a16:creationId xmlns:a16="http://schemas.microsoft.com/office/drawing/2014/main" id="{6FC48625-6A30-16BF-F3FF-DB1E9650A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301" y="2180259"/>
            <a:ext cx="6029397" cy="420041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A2C0945-7DDB-4DF1-6949-063354A932CE}"/>
              </a:ext>
            </a:extLst>
          </p:cNvPr>
          <p:cNvSpPr txBox="1"/>
          <p:nvPr/>
        </p:nvSpPr>
        <p:spPr>
          <a:xfrm>
            <a:off x="931212" y="1389033"/>
            <a:ext cx="795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Importazione del dataset (</a:t>
            </a:r>
            <a:r>
              <a:rPr lang="it-IT" altLang="it-IT" sz="2800" i="1" dirty="0" err="1">
                <a:latin typeface="Arial" panose="020B0604020202020204" pitchFamily="34" charset="0"/>
              </a:rPr>
              <a:t>dataTable</a:t>
            </a:r>
            <a:r>
              <a:rPr lang="it-IT" altLang="it-IT" sz="2800" dirty="0">
                <a:latin typeface="Arial" panose="020B0604020202020204" pitchFamily="34" charset="0"/>
              </a:rPr>
              <a:t>)</a:t>
            </a:r>
            <a:endParaRPr kumimoji="0" lang="it-IT" altLang="it-IT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320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A4936-E0ED-B84B-B9EC-A2FF789C4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BBE288E3-6D78-CE15-26FE-ABCC7E702317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3. </a:t>
            </a:r>
            <a:r>
              <a:rPr lang="it-IT" b="1" dirty="0" err="1"/>
              <a:t>Diagnostic</a:t>
            </a:r>
            <a:r>
              <a:rPr lang="it-IT" b="1" dirty="0"/>
              <a:t> </a:t>
            </a:r>
            <a:r>
              <a:rPr lang="it-IT" b="1" dirty="0" err="1"/>
              <a:t>Feauture</a:t>
            </a:r>
            <a:r>
              <a:rPr lang="it-IT" b="1" dirty="0"/>
              <a:t> Designer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93FFB1B-A5C4-B344-BC37-762C8846CCCB}"/>
              </a:ext>
            </a:extLst>
          </p:cNvPr>
          <p:cNvSpPr txBox="1"/>
          <p:nvPr/>
        </p:nvSpPr>
        <p:spPr>
          <a:xfrm>
            <a:off x="931212" y="1389033"/>
            <a:ext cx="795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Impostazione </a:t>
            </a:r>
            <a:r>
              <a:rPr lang="it-IT" altLang="it-IT" sz="2800" i="1" dirty="0">
                <a:latin typeface="Arial" panose="020B0604020202020204" pitchFamily="34" charset="0"/>
              </a:rPr>
              <a:t>Frame Policy</a:t>
            </a:r>
            <a:endParaRPr kumimoji="0" lang="it-IT" altLang="it-IT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schermo, numero&#10;&#10;Descrizione generata automaticamente">
            <a:extLst>
              <a:ext uri="{FF2B5EF4-FFF2-40B4-BE49-F238E27FC236}">
                <a16:creationId xmlns:a16="http://schemas.microsoft.com/office/drawing/2014/main" id="{F0F2C203-1130-8E24-F54E-C661E4B69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093" y="2714596"/>
            <a:ext cx="3619814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9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D151-16C8-6BA8-996B-ADDE8156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70D847B6-36E0-CBC9-AE82-2818944D5888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3. </a:t>
            </a:r>
            <a:r>
              <a:rPr lang="it-IT" b="1" dirty="0" err="1"/>
              <a:t>Diagnostic</a:t>
            </a:r>
            <a:r>
              <a:rPr lang="it-IT" b="1" dirty="0"/>
              <a:t> </a:t>
            </a:r>
            <a:r>
              <a:rPr lang="it-IT" b="1" dirty="0" err="1"/>
              <a:t>Feauture</a:t>
            </a:r>
            <a:r>
              <a:rPr lang="it-IT" b="1" dirty="0"/>
              <a:t> Designer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4A71230-5496-973D-4698-ECDD390AD8E7}"/>
              </a:ext>
            </a:extLst>
          </p:cNvPr>
          <p:cNvSpPr txBox="1"/>
          <p:nvPr/>
        </p:nvSpPr>
        <p:spPr>
          <a:xfrm>
            <a:off x="931212" y="1458925"/>
            <a:ext cx="795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Estrazione delle features</a:t>
            </a:r>
            <a:endParaRPr kumimoji="0" lang="it-IT" altLang="it-IT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magine 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4A0D150D-2099-8FFF-0D7D-38395B2FB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389" y="2935488"/>
            <a:ext cx="9007621" cy="13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49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1C9C1-A60A-6C2A-B7CC-1FC7BC62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B5D812F-2071-629D-694B-223B9DDB4B86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3. </a:t>
            </a:r>
            <a:r>
              <a:rPr lang="it-IT" b="1" dirty="0" err="1"/>
              <a:t>Diagnostic</a:t>
            </a:r>
            <a:r>
              <a:rPr lang="it-IT" b="1" dirty="0"/>
              <a:t> </a:t>
            </a:r>
            <a:r>
              <a:rPr lang="it-IT" b="1" dirty="0" err="1"/>
              <a:t>Feauture</a:t>
            </a:r>
            <a:r>
              <a:rPr lang="it-IT" b="1" dirty="0"/>
              <a:t> Designer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EEC51F1-FEB1-361A-A860-EC840BDE5606}"/>
              </a:ext>
            </a:extLst>
          </p:cNvPr>
          <p:cNvSpPr txBox="1"/>
          <p:nvPr/>
        </p:nvSpPr>
        <p:spPr>
          <a:xfrm>
            <a:off x="931212" y="1458925"/>
            <a:ext cx="7954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Impostazione </a:t>
            </a:r>
            <a:r>
              <a:rPr lang="it-IT" altLang="it-IT" sz="2800" i="1" dirty="0" err="1">
                <a:latin typeface="Arial" panose="020B0604020202020204" pitchFamily="34" charset="0"/>
              </a:rPr>
              <a:t>Autoregressive</a:t>
            </a:r>
            <a:r>
              <a:rPr lang="it-IT" altLang="it-IT" sz="2800" i="1" dirty="0">
                <a:latin typeface="Arial" panose="020B0604020202020204" pitchFamily="34" charset="0"/>
              </a:rPr>
              <a:t> Model</a:t>
            </a:r>
            <a:endParaRPr kumimoji="0" lang="it-IT" altLang="it-IT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CC4FFAF6-016A-31A0-1FA6-48D7118C9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63" y="2784488"/>
            <a:ext cx="7681626" cy="13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44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7C26B-AECA-0A6B-EB42-775F36A4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C7204D9A-D424-46A6-3042-1A874D561BF1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3. </a:t>
            </a:r>
            <a:r>
              <a:rPr lang="it-IT" b="1" dirty="0" err="1"/>
              <a:t>Diagnostic</a:t>
            </a:r>
            <a:r>
              <a:rPr lang="it-IT" b="1" dirty="0"/>
              <a:t> </a:t>
            </a:r>
            <a:r>
              <a:rPr lang="it-IT" b="1" dirty="0" err="1"/>
              <a:t>Feauture</a:t>
            </a:r>
            <a:r>
              <a:rPr lang="it-IT" b="1" dirty="0"/>
              <a:t> Designer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577EEA1-4C8E-81A4-1251-33998414987B}"/>
              </a:ext>
            </a:extLst>
          </p:cNvPr>
          <p:cNvSpPr txBox="1"/>
          <p:nvPr/>
        </p:nvSpPr>
        <p:spPr>
          <a:xfrm>
            <a:off x="931212" y="1458925"/>
            <a:ext cx="10325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Impostazione dei parametri per la visualizzazione dello </a:t>
            </a:r>
            <a:r>
              <a:rPr lang="it-IT" altLang="it-IT" sz="2800" i="1" dirty="0">
                <a:latin typeface="Arial" panose="020B0604020202020204" pitchFamily="34" charset="0"/>
              </a:rPr>
              <a:t>spettro in frequenza.</a:t>
            </a:r>
            <a:endParaRPr kumimoji="0" lang="it-IT" altLang="it-IT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magine 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D82EAF22-C0AF-A75E-DE50-6C57D0ADB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805" y="2853858"/>
            <a:ext cx="8844828" cy="115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646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687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Menlo</vt:lpstr>
      <vt:lpstr>Wingdings</vt:lpstr>
      <vt:lpstr>Tema di Office</vt:lpstr>
      <vt:lpstr>Rilevamento usura pala a partire dall’analisi del log di volo di un drone esarotore</vt:lpstr>
      <vt:lpstr>Attività svolte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SABATINI CATERINA</dc:creator>
  <cp:lastModifiedBy>SABATINI CATERINA</cp:lastModifiedBy>
  <cp:revision>2</cp:revision>
  <dcterms:created xsi:type="dcterms:W3CDTF">2026-01-27T15:16:37Z</dcterms:created>
  <dcterms:modified xsi:type="dcterms:W3CDTF">2026-01-28T08:50:06Z</dcterms:modified>
</cp:coreProperties>
</file>