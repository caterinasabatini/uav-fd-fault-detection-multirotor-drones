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4" r:id="rId3"/>
    <p:sldId id="260" r:id="rId4"/>
    <p:sldId id="268" r:id="rId5"/>
    <p:sldId id="269" r:id="rId6"/>
    <p:sldId id="270" r:id="rId7"/>
    <p:sldId id="271" r:id="rId8"/>
    <p:sldId id="272" r:id="rId9"/>
    <p:sldId id="273" r:id="rId10"/>
    <p:sldId id="275" r:id="rId11"/>
    <p:sldId id="276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435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29297C-AAE0-EE8D-F91F-DAAFE3AD4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D541E9E-E5DC-DBDC-7B16-C73BC8183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8E9D52-0805-4F1C-67E9-5C92CC3F5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02/02/2026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10D7EA-C9CF-0DC3-7CD3-A1C0B777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762932-27FB-B142-D3F0-F431E770D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123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183C5F-B8CA-4C2D-7B32-EF1A3F37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96679D-DE23-EFA5-7CEE-2279D5094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A4308E-1A5B-5FFB-A3C8-DC08F852A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02/02/2026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BC6E8A-05F8-F6D4-41A6-6E08D1C4E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654D69C-19F4-406D-09AD-B9FE1FF0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144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81BE29-9A0C-A3BD-BA21-60CBB746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08BCC9F-519F-C573-BAB0-D5F5C8932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C1913B-BC19-DEAD-C663-63FCCFE66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02/02/2026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CCC077-AEAD-5991-9B8C-AB2EA5E8A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AD4A416-0C3D-9A98-DDF4-665BFA4B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5755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005F43-1491-F3DA-D27F-D0B36C31A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0FC860-5993-8997-104A-84C49A91C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5024886-EA69-F488-74EF-741A5D790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6E9C96F-4C12-7B46-CC31-9B5B78462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02/02/2026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3F3AC8E-5064-FD1D-36C1-C9A7582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491C799-D2BE-1F18-A0E6-E09FB27E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2297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D6D614-A616-7C51-C35F-8CB3894E9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51C4DA-6298-0EEB-390E-1F6C45009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23BF184-EB31-F873-4309-E05F51018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17238CF-CE2B-8D2E-9C0E-DAE142752F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1C11B9F-711F-B5E6-151F-F27150CB2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FD7867A-03BF-7B41-C99E-21E3E3374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02/02/2026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2F9B9CA-C765-C3C7-3C94-E467A7D86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F7B0B43-E63E-A1CA-02B6-00799A66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729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DA79BA-E85A-2CD3-BED1-978A46CFC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3D43A3C-A232-1926-3C9E-91409F0B9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02/02/2026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8747CBE-D959-0E89-8DB5-3D5CEBBD2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8A80741-806F-8445-4392-5E627916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8425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BDFDFC7-7D39-B11F-B01A-5211B8549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02/02/2026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7D776F9-09DA-F992-CF6F-E01A42A3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156439-3F50-E427-AB4D-24A3DAB9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925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7E4F21-021D-74F9-72D1-1E015514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7AE953-1902-5E18-6406-857B09CD0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0B696CB-86DA-9C82-14A8-6F4E2DC36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EC31563-2B82-168D-26E7-500DB5CE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02/02/2026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085124F-A1A2-3434-CCC6-F8FB0F0EC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B626889-6770-CEFA-8153-CF8EA8C22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3453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F8AB17-7843-7504-C22D-68ED3674A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DF178B5-8C5E-183D-0FB5-91B3E1A4D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0C1530D-B44C-7DDF-5E06-10704A362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927E344-5718-61FC-539D-761B719C1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02/02/2026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234588F-FD28-7D98-B370-FF51A2D9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E281AC-0F58-B8E2-6873-0EE2E957A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4557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5100C5-7FB7-BBA1-6496-6CA36575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22CFFB-00F3-1E66-96D9-5922B4401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2050E0-118A-E948-449F-2F5827EAA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02/02/2026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41FFFA-1EF9-BE3D-DEEC-8EB6D4FD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A6A778-0317-C9E8-394C-9DE65CB6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8965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26CAA26-5B74-C31A-7CB9-7C063C78D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1E7C37B-AE56-8138-D545-46BD68C8F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54A91DB-5AC6-0E60-85BD-6DE57E17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02/02/2026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36BF645-5BC4-1852-9E9E-DB7A9CA45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8483E2-06B5-CCAA-52CA-750E20EFC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8997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96D0B3C-915B-8696-B652-510E3FFD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F540F92-8BCD-7680-D9FD-C74FD9680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79B497-3CD6-8132-E9A6-C608EB98F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646EC-D323-4620-B990-129302945705}" type="datetimeFigureOut">
              <a:rPr lang="it-IT" smtClean="0"/>
              <a:t>02/02/2026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8DA3B3-FB45-4D35-C8A4-D9AD227A0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AAE3386-8F0A-F2C4-B6D7-43781013F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252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7C7A07-0F39-5277-C5AD-806892AB9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7656" y="1550071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it-IT" b="1" dirty="0"/>
              <a:t>Rilevamento usura pala a partire dall’analisi del log di volo di un drone </a:t>
            </a:r>
            <a:r>
              <a:rPr lang="it-IT" b="1" dirty="0" err="1"/>
              <a:t>esarotore</a:t>
            </a:r>
            <a:endParaRPr lang="it-IT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0614B82-0509-66D6-3D44-4F0910A81BF0}"/>
              </a:ext>
            </a:extLst>
          </p:cNvPr>
          <p:cNvSpPr txBox="1"/>
          <p:nvPr/>
        </p:nvSpPr>
        <p:spPr>
          <a:xfrm>
            <a:off x="1121664" y="3937671"/>
            <a:ext cx="8150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i="1" dirty="0"/>
              <a:t>Revisione no. 2 (3 febbraio 2026)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061827F-B059-8BB4-66C6-96222D57145D}"/>
              </a:ext>
            </a:extLst>
          </p:cNvPr>
          <p:cNvSpPr txBox="1"/>
          <p:nvPr/>
        </p:nvSpPr>
        <p:spPr>
          <a:xfrm>
            <a:off x="1057656" y="5367703"/>
            <a:ext cx="5422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 cura di: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dirty="0"/>
              <a:t>Caterina Sabatini (S1121684)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dirty="0"/>
              <a:t>Matteo Stronati (S1122745)</a:t>
            </a:r>
          </a:p>
        </p:txBody>
      </p:sp>
    </p:spTree>
    <p:extLst>
      <p:ext uri="{BB962C8B-B14F-4D97-AF65-F5344CB8AC3E}">
        <p14:creationId xmlns:p14="http://schemas.microsoft.com/office/powerpoint/2010/main" val="96798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BB067-6E05-0B42-ACA0-7457F1B36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BD1AB6-A622-F0F2-1E06-3F6FD6B7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b="1" dirty="0">
                <a:latin typeface="+mn-lt"/>
              </a:rPr>
              <a:t>Dopo la 1° revisione…</a:t>
            </a:r>
          </a:p>
        </p:txBody>
      </p:sp>
      <p:pic>
        <p:nvPicPr>
          <p:cNvPr id="11" name="Immagine 10" descr="Immagine che contiene testo, schermata, software, numero&#10;&#10;Descrizione generata automaticamente">
            <a:extLst>
              <a:ext uri="{FF2B5EF4-FFF2-40B4-BE49-F238E27FC236}">
                <a16:creationId xmlns:a16="http://schemas.microsoft.com/office/drawing/2014/main" id="{B3EA45E5-7F44-B05B-09BD-3165C5C28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897" y="2594278"/>
            <a:ext cx="5143840" cy="2351470"/>
          </a:xfrm>
          <a:prstGeom prst="rect">
            <a:avLst/>
          </a:prstGeom>
        </p:spPr>
      </p:pic>
      <p:pic>
        <p:nvPicPr>
          <p:cNvPr id="13" name="Immagine 12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C209BB49-9452-E113-BA36-B87E71395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429" y="2151473"/>
            <a:ext cx="1750931" cy="3757766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9E6DE5E-30F6-1404-0AEC-07480226AC17}"/>
              </a:ext>
            </a:extLst>
          </p:cNvPr>
          <p:cNvSpPr txBox="1"/>
          <p:nvPr/>
        </p:nvSpPr>
        <p:spPr>
          <a:xfrm>
            <a:off x="838200" y="1397861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Nelle seguenti figure sono riportati i dati sincronizzati.</a:t>
            </a:r>
            <a:endParaRPr kumimoji="0" lang="it-IT" altLang="it-IT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827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8345CA-41C1-65D0-D63B-952771ED5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b="1" dirty="0">
                <a:latin typeface="+mn-lt"/>
              </a:rPr>
              <a:t>Attività svolte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6799A7-B887-62D9-7997-F89678D87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 anchor="t"/>
          <a:lstStyle/>
          <a:p>
            <a:pPr marL="514350" indent="-514350">
              <a:buFont typeface="+mj-lt"/>
              <a:buAutoNum type="arabicPeriod"/>
            </a:pPr>
            <a:r>
              <a:rPr lang="it-IT" i="1" dirty="0" err="1"/>
              <a:t>Diagnostic</a:t>
            </a:r>
            <a:r>
              <a:rPr lang="it-IT" i="1" dirty="0"/>
              <a:t> Feature Designer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Classificazione per tipologia di Fault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Classificazione per tipologia di Fault (PCA)</a:t>
            </a:r>
          </a:p>
        </p:txBody>
      </p:sp>
    </p:spTree>
    <p:extLst>
      <p:ext uri="{BB962C8B-B14F-4D97-AF65-F5344CB8AC3E}">
        <p14:creationId xmlns:p14="http://schemas.microsoft.com/office/powerpoint/2010/main" val="1141521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FA45D168-CD7E-837E-55E7-BB0B502F6751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/>
              <a:t>1. </a:t>
            </a:r>
            <a:r>
              <a:rPr lang="it-IT" sz="4000" b="1" dirty="0" err="1"/>
              <a:t>Diagnostic</a:t>
            </a:r>
            <a:r>
              <a:rPr lang="it-IT" sz="4000" b="1" dirty="0"/>
              <a:t> Feature Designer</a:t>
            </a:r>
          </a:p>
        </p:txBody>
      </p:sp>
      <p:pic>
        <p:nvPicPr>
          <p:cNvPr id="6" name="Immagine 5" descr="Immagine che contiene testo, schermata, numero, Parallelo&#10;&#10;Descrizione generata automaticamente">
            <a:extLst>
              <a:ext uri="{FF2B5EF4-FFF2-40B4-BE49-F238E27FC236}">
                <a16:creationId xmlns:a16="http://schemas.microsoft.com/office/drawing/2014/main" id="{6FC48625-6A30-16BF-F3FF-DB1E9650A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301" y="2180259"/>
            <a:ext cx="6029397" cy="420041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A2C0945-7DDB-4DF1-6949-063354A932CE}"/>
              </a:ext>
            </a:extLst>
          </p:cNvPr>
          <p:cNvSpPr txBox="1"/>
          <p:nvPr/>
        </p:nvSpPr>
        <p:spPr>
          <a:xfrm>
            <a:off x="931212" y="1389033"/>
            <a:ext cx="7954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Importazione del dataset (</a:t>
            </a:r>
            <a:r>
              <a:rPr lang="it-IT" altLang="it-IT" sz="2800" i="1" dirty="0" err="1">
                <a:latin typeface="Arial" panose="020B0604020202020204" pitchFamily="34" charset="0"/>
              </a:rPr>
              <a:t>dataTable</a:t>
            </a:r>
            <a:r>
              <a:rPr lang="it-IT" altLang="it-IT" sz="2800" dirty="0">
                <a:latin typeface="Arial" panose="020B0604020202020204" pitchFamily="34" charset="0"/>
              </a:rPr>
              <a:t>)</a:t>
            </a:r>
            <a:endParaRPr kumimoji="0" lang="it-IT" altLang="it-IT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320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A4936-E0ED-B84B-B9EC-A2FF789C4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BBE288E3-6D78-CE15-26FE-ABCC7E702317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/>
              <a:t>1. </a:t>
            </a:r>
            <a:r>
              <a:rPr lang="it-IT" sz="4000" b="1" dirty="0" err="1"/>
              <a:t>Diagnostic</a:t>
            </a:r>
            <a:r>
              <a:rPr lang="it-IT" sz="4000" b="1" dirty="0"/>
              <a:t> Feature Designer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93FFB1B-A5C4-B344-BC37-762C8846CCCB}"/>
              </a:ext>
            </a:extLst>
          </p:cNvPr>
          <p:cNvSpPr txBox="1"/>
          <p:nvPr/>
        </p:nvSpPr>
        <p:spPr>
          <a:xfrm>
            <a:off x="931212" y="1389033"/>
            <a:ext cx="7954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Impostazione </a:t>
            </a:r>
            <a:r>
              <a:rPr lang="it-IT" altLang="it-IT" sz="2800" i="1" dirty="0">
                <a:latin typeface="Arial" panose="020B0604020202020204" pitchFamily="34" charset="0"/>
              </a:rPr>
              <a:t>Frame Policy</a:t>
            </a:r>
            <a:endParaRPr kumimoji="0" lang="it-IT" altLang="it-IT" sz="2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magine 2" descr="Immagine che contiene testo, schermata, schermo, numero&#10;&#10;Descrizione generata automaticamente">
            <a:extLst>
              <a:ext uri="{FF2B5EF4-FFF2-40B4-BE49-F238E27FC236}">
                <a16:creationId xmlns:a16="http://schemas.microsoft.com/office/drawing/2014/main" id="{F0F2C203-1130-8E24-F54E-C661E4B69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093" y="2714596"/>
            <a:ext cx="3619814" cy="25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91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7D151-16C8-6BA8-996B-ADDE8156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70D847B6-36E0-CBC9-AE82-2818944D5888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/>
              <a:t>1. </a:t>
            </a:r>
            <a:r>
              <a:rPr lang="it-IT" sz="4000" b="1" dirty="0" err="1"/>
              <a:t>Diagnostic</a:t>
            </a:r>
            <a:r>
              <a:rPr lang="it-IT" sz="4000" b="1" dirty="0"/>
              <a:t> Feature Designer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4A71230-5496-973D-4698-ECDD390AD8E7}"/>
              </a:ext>
            </a:extLst>
          </p:cNvPr>
          <p:cNvSpPr txBox="1"/>
          <p:nvPr/>
        </p:nvSpPr>
        <p:spPr>
          <a:xfrm>
            <a:off x="931212" y="1458925"/>
            <a:ext cx="7954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Estrazione delle features</a:t>
            </a:r>
            <a:endParaRPr kumimoji="0" lang="it-IT" altLang="it-IT" sz="2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magine 4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4A0D150D-2099-8FFF-0D7D-38395B2FB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389" y="2935488"/>
            <a:ext cx="9007621" cy="13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049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1C9C1-A60A-6C2A-B7CC-1FC7BC620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FB5D812F-2071-629D-694B-223B9DDB4B86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/>
              <a:t>1. </a:t>
            </a:r>
            <a:r>
              <a:rPr lang="it-IT" sz="4000" b="1" dirty="0" err="1"/>
              <a:t>Diagnostic</a:t>
            </a:r>
            <a:r>
              <a:rPr lang="it-IT" sz="4000" b="1" dirty="0"/>
              <a:t> Feature Designer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EEC51F1-FEB1-361A-A860-EC840BDE5606}"/>
              </a:ext>
            </a:extLst>
          </p:cNvPr>
          <p:cNvSpPr txBox="1"/>
          <p:nvPr/>
        </p:nvSpPr>
        <p:spPr>
          <a:xfrm>
            <a:off x="931212" y="1458925"/>
            <a:ext cx="7954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Impostazione </a:t>
            </a:r>
            <a:r>
              <a:rPr lang="it-IT" altLang="it-IT" sz="2800" i="1" dirty="0" err="1">
                <a:latin typeface="Arial" panose="020B0604020202020204" pitchFamily="34" charset="0"/>
              </a:rPr>
              <a:t>Autoregressive</a:t>
            </a:r>
            <a:r>
              <a:rPr lang="it-IT" altLang="it-IT" sz="2800" i="1" dirty="0">
                <a:latin typeface="Arial" panose="020B0604020202020204" pitchFamily="34" charset="0"/>
              </a:rPr>
              <a:t> Model</a:t>
            </a:r>
            <a:endParaRPr kumimoji="0" lang="it-IT" altLang="it-IT" sz="2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magine 2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CC4FFAF6-016A-31A0-1FA6-48D7118C9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163" y="2784488"/>
            <a:ext cx="7681626" cy="13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44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7C26B-AECA-0A6B-EB42-775F36A4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C7204D9A-D424-46A6-3042-1A874D561BF1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/>
              <a:t>1. </a:t>
            </a:r>
            <a:r>
              <a:rPr lang="it-IT" sz="4000" b="1" dirty="0" err="1"/>
              <a:t>Diagnostic</a:t>
            </a:r>
            <a:r>
              <a:rPr lang="it-IT" sz="4000" b="1" dirty="0"/>
              <a:t> Feature Designer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577EEA1-4C8E-81A4-1251-33998414987B}"/>
              </a:ext>
            </a:extLst>
          </p:cNvPr>
          <p:cNvSpPr txBox="1"/>
          <p:nvPr/>
        </p:nvSpPr>
        <p:spPr>
          <a:xfrm>
            <a:off x="931212" y="1458925"/>
            <a:ext cx="103250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Impostazione dei parametri per la visualizzazione dello </a:t>
            </a:r>
            <a:r>
              <a:rPr lang="it-IT" altLang="it-IT" sz="2800" i="1" dirty="0">
                <a:latin typeface="Arial" panose="020B0604020202020204" pitchFamily="34" charset="0"/>
              </a:rPr>
              <a:t>spettro in frequenza.</a:t>
            </a:r>
            <a:endParaRPr kumimoji="0" lang="it-IT" altLang="it-IT" sz="2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magine 4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D82EAF22-C0AF-A75E-DE50-6C57D0ADB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805" y="2853858"/>
            <a:ext cx="8844828" cy="1150283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A38630E-F8C0-D0CE-5733-80EE86548432}"/>
              </a:ext>
            </a:extLst>
          </p:cNvPr>
          <p:cNvSpPr txBox="1"/>
          <p:nvPr/>
        </p:nvSpPr>
        <p:spPr>
          <a:xfrm>
            <a:off x="933474" y="4922021"/>
            <a:ext cx="103250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b="1" dirty="0">
                <a:latin typeface="Arial" panose="020B0604020202020204" pitchFamily="34" charset="0"/>
              </a:rPr>
              <a:t>N.B. </a:t>
            </a:r>
            <a:r>
              <a:rPr lang="it-IT" altLang="it-IT" sz="2800" dirty="0">
                <a:latin typeface="Arial" panose="020B0604020202020204" pitchFamily="34" charset="0"/>
              </a:rPr>
              <a:t>Sono state escluse le feature </a:t>
            </a:r>
            <a:r>
              <a:rPr lang="it-IT" altLang="it-IT" sz="2800" b="1" dirty="0">
                <a:latin typeface="Arial" panose="020B0604020202020204" pitchFamily="34" charset="0"/>
              </a:rPr>
              <a:t>ESC</a:t>
            </a:r>
            <a:r>
              <a:rPr lang="it-IT" altLang="it-IT" sz="2800" dirty="0">
                <a:latin typeface="Arial" panose="020B0604020202020204" pitchFamily="34" charset="0"/>
              </a:rPr>
              <a:t> e </a:t>
            </a:r>
            <a:r>
              <a:rPr lang="it-IT" altLang="it-IT" sz="2800" b="1" dirty="0">
                <a:latin typeface="Arial" panose="020B0604020202020204" pitchFamily="34" charset="0"/>
              </a:rPr>
              <a:t>CUR</a:t>
            </a:r>
            <a:r>
              <a:rPr lang="it-IT" altLang="it-IT" sz="2800" dirty="0">
                <a:latin typeface="Arial" panose="020B0604020202020204" pitchFamily="34" charset="0"/>
              </a:rPr>
              <a:t> perché considerate poco rilevanti per l’analisi in frequenza. </a:t>
            </a:r>
            <a:endParaRPr kumimoji="0" lang="it-IT" altLang="it-IT" sz="28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664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76BE7-2338-4991-BE39-C8C555DE4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30980CCF-A155-5CD0-9E26-FE5E3B06208F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/>
              <a:t>2. Classificazione per tipologia di Fault</a:t>
            </a:r>
          </a:p>
        </p:txBody>
      </p:sp>
      <p:pic>
        <p:nvPicPr>
          <p:cNvPr id="8" name="Immagine 7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C64DAFA7-5B4E-AD3D-1B6C-B95CB4AF9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938" y="2511530"/>
            <a:ext cx="6286124" cy="3689888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CCBFCC6A-0A54-4F29-A65C-36413258F5B4}"/>
              </a:ext>
            </a:extLst>
          </p:cNvPr>
          <p:cNvSpPr txBox="1"/>
          <p:nvPr/>
        </p:nvSpPr>
        <p:spPr>
          <a:xfrm>
            <a:off x="933474" y="1418695"/>
            <a:ext cx="103250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Con il metodo ANOVA sono state selezionate </a:t>
            </a:r>
            <a:r>
              <a:rPr lang="it-IT" altLang="it-IT" sz="2800" b="1" dirty="0">
                <a:latin typeface="Arial" panose="020B0604020202020204" pitchFamily="34" charset="0"/>
              </a:rPr>
              <a:t>50 feature con ANOVA scores più alto</a:t>
            </a:r>
            <a:r>
              <a:rPr lang="it-IT" altLang="it-IT" sz="2800" dirty="0">
                <a:latin typeface="Arial" panose="020B0604020202020204" pitchFamily="34" charset="0"/>
              </a:rPr>
              <a:t>.</a:t>
            </a:r>
            <a:endParaRPr kumimoji="0" lang="it-IT" altLang="it-IT" sz="2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471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5E97F-7AF8-76C4-EB71-65D90A55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0124B394-37B5-2371-325D-4336467EB7B9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/>
              <a:t>2. Classificazione per tipologia di Fault</a:t>
            </a:r>
          </a:p>
        </p:txBody>
      </p:sp>
      <p:pic>
        <p:nvPicPr>
          <p:cNvPr id="3" name="Immagine 2" descr="Immagine che contiene testo, schermata, numero, software&#10;&#10;Descrizione generata automaticamente">
            <a:extLst>
              <a:ext uri="{FF2B5EF4-FFF2-40B4-BE49-F238E27FC236}">
                <a16:creationId xmlns:a16="http://schemas.microsoft.com/office/drawing/2014/main" id="{F9304DD9-152C-B971-BAEE-489C65603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619" y="1982145"/>
            <a:ext cx="3390761" cy="4559362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3A69A51E-82EE-7FFB-FEB0-6269459AFFA9}"/>
              </a:ext>
            </a:extLst>
          </p:cNvPr>
          <p:cNvSpPr txBox="1"/>
          <p:nvPr/>
        </p:nvSpPr>
        <p:spPr>
          <a:xfrm>
            <a:off x="933474" y="1418695"/>
            <a:ext cx="10325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In seguito sono riportati i </a:t>
            </a:r>
            <a:r>
              <a:rPr lang="it-IT" altLang="it-IT" sz="2800" b="1" dirty="0">
                <a:latin typeface="Arial" panose="020B0604020202020204" pitchFamily="34" charset="0"/>
              </a:rPr>
              <a:t>risultati</a:t>
            </a:r>
            <a:r>
              <a:rPr lang="it-IT" altLang="it-IT" sz="2800" dirty="0">
                <a:latin typeface="Arial" panose="020B0604020202020204" pitchFamily="34" charset="0"/>
              </a:rPr>
              <a:t> della classificazione.</a:t>
            </a:r>
            <a:endParaRPr kumimoji="0" lang="it-IT" altLang="it-IT" sz="2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624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1D4BF-8161-6E2E-368C-DB30EB608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5F943577-FB70-3A33-4FAB-224B5689AE0E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/>
              <a:t>2. Classificazione per tipologia di Fault</a:t>
            </a:r>
          </a:p>
        </p:txBody>
      </p:sp>
      <p:pic>
        <p:nvPicPr>
          <p:cNvPr id="5" name="Immagine 4" descr="Immagine che contiene testo, schermata, diagramma, quadrato&#10;&#10;Descrizione generata automaticamente">
            <a:extLst>
              <a:ext uri="{FF2B5EF4-FFF2-40B4-BE49-F238E27FC236}">
                <a16:creationId xmlns:a16="http://schemas.microsoft.com/office/drawing/2014/main" id="{B97753C4-6BB4-50DF-0BA7-131D6716D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420" y="2570150"/>
            <a:ext cx="5481159" cy="363126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0803DD-3E87-6140-6314-371ACFAB850A}"/>
              </a:ext>
            </a:extLst>
          </p:cNvPr>
          <p:cNvSpPr txBox="1"/>
          <p:nvPr/>
        </p:nvSpPr>
        <p:spPr>
          <a:xfrm>
            <a:off x="933474" y="1418695"/>
            <a:ext cx="103250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In seguito è riportata la </a:t>
            </a:r>
            <a:r>
              <a:rPr lang="it-IT" altLang="it-IT" sz="2800" b="1" dirty="0">
                <a:latin typeface="Arial" panose="020B0604020202020204" pitchFamily="34" charset="0"/>
              </a:rPr>
              <a:t>Matrice di Confusione</a:t>
            </a:r>
            <a:r>
              <a:rPr lang="it-IT" altLang="it-IT" sz="2800" dirty="0">
                <a:latin typeface="Arial" panose="020B0604020202020204" pitchFamily="34" charset="0"/>
              </a:rPr>
              <a:t> del </a:t>
            </a:r>
            <a:r>
              <a:rPr lang="it-IT" altLang="it-IT" sz="2800" b="1" dirty="0" err="1">
                <a:latin typeface="Arial" panose="020B0604020202020204" pitchFamily="34" charset="0"/>
              </a:rPr>
              <a:t>Cubic</a:t>
            </a:r>
            <a:r>
              <a:rPr lang="it-IT" altLang="it-IT" sz="2800" b="1" dirty="0">
                <a:latin typeface="Arial" panose="020B0604020202020204" pitchFamily="34" charset="0"/>
              </a:rPr>
              <a:t> SVM Model</a:t>
            </a:r>
            <a:r>
              <a:rPr lang="it-IT" altLang="it-IT" sz="2800" dirty="0">
                <a:latin typeface="Arial" panose="020B0604020202020204" pitchFamily="34" charset="0"/>
              </a:rPr>
              <a:t>.</a:t>
            </a:r>
            <a:endParaRPr kumimoji="0" lang="it-IT" altLang="it-IT" sz="2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35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2374F-E799-69DE-F94B-82A7AAB26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85A479E0-546F-41D9-8701-58E43C3E741B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/>
              <a:t>3. Classificazione per tipologia di Fault (PCA)</a:t>
            </a:r>
          </a:p>
          <a:p>
            <a:endParaRPr lang="it-IT" sz="4000" b="1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8028A81-0C63-6BEB-E23B-C527718556B8}"/>
              </a:ext>
            </a:extLst>
          </p:cNvPr>
          <p:cNvSpPr txBox="1"/>
          <p:nvPr/>
        </p:nvSpPr>
        <p:spPr>
          <a:xfrm>
            <a:off x="838200" y="1433334"/>
            <a:ext cx="103250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Impostazione dei </a:t>
            </a:r>
            <a:r>
              <a:rPr lang="it-IT" altLang="it-IT" sz="2800" b="1" dirty="0">
                <a:latin typeface="Arial" panose="020B0604020202020204" pitchFamily="34" charset="0"/>
              </a:rPr>
              <a:t>parametri</a:t>
            </a:r>
            <a:r>
              <a:rPr lang="it-IT" altLang="it-IT" sz="2800" dirty="0">
                <a:latin typeface="Arial" panose="020B0604020202020204" pitchFamily="34" charset="0"/>
              </a:rPr>
              <a:t> per eseguire la classificazione con PCA.</a:t>
            </a:r>
            <a:endParaRPr kumimoji="0" lang="it-IT" altLang="it-IT" sz="2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magine 2" descr="Immagine che contiene testo, elettronica, schermata, schermo&#10;&#10;Descrizione generata automaticamente">
            <a:extLst>
              <a:ext uri="{FF2B5EF4-FFF2-40B4-BE49-F238E27FC236}">
                <a16:creationId xmlns:a16="http://schemas.microsoft.com/office/drawing/2014/main" id="{DE7DECAE-0881-1068-2C7B-41C79FD6C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904" y="2758897"/>
            <a:ext cx="4054191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9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224EC-4015-4E26-A838-3FD6A055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7960297C-8871-3334-15D0-1433F60908B9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/>
              <a:t>3. Classificazione per tipologia di Fault (PCA)</a:t>
            </a:r>
          </a:p>
          <a:p>
            <a:endParaRPr lang="it-IT" sz="4000" b="1" dirty="0"/>
          </a:p>
        </p:txBody>
      </p:sp>
      <p:pic>
        <p:nvPicPr>
          <p:cNvPr id="5" name="Immagine 4" descr="Immagine che contiene testo, schermata, numero, software&#10;&#10;Descrizione generata automaticamente">
            <a:extLst>
              <a:ext uri="{FF2B5EF4-FFF2-40B4-BE49-F238E27FC236}">
                <a16:creationId xmlns:a16="http://schemas.microsoft.com/office/drawing/2014/main" id="{97EAF6D9-9289-6E31-CC81-EA01F4E18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521" y="2273559"/>
            <a:ext cx="3218880" cy="417344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8310E8AC-13D5-B6EC-C1FB-5CAE752F6D15}"/>
              </a:ext>
            </a:extLst>
          </p:cNvPr>
          <p:cNvSpPr txBox="1"/>
          <p:nvPr/>
        </p:nvSpPr>
        <p:spPr>
          <a:xfrm>
            <a:off x="933474" y="1418695"/>
            <a:ext cx="10325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In seguito sono riportati i </a:t>
            </a:r>
            <a:r>
              <a:rPr lang="it-IT" altLang="it-IT" sz="2800" b="1" dirty="0">
                <a:latin typeface="Arial" panose="020B0604020202020204" pitchFamily="34" charset="0"/>
              </a:rPr>
              <a:t>risultati</a:t>
            </a:r>
            <a:r>
              <a:rPr lang="it-IT" altLang="it-IT" sz="2800" dirty="0">
                <a:latin typeface="Arial" panose="020B0604020202020204" pitchFamily="34" charset="0"/>
              </a:rPr>
              <a:t> della classificazione.</a:t>
            </a:r>
            <a:endParaRPr kumimoji="0" lang="it-IT" altLang="it-IT" sz="2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238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E2CEF-2AAB-3D6C-F907-F9313124A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A9006F0C-0542-AC04-B2EC-AC44B8769871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/>
              <a:t>3. Classificazione per tipologia di Fault (PCA)</a:t>
            </a:r>
          </a:p>
          <a:p>
            <a:endParaRPr lang="it-IT" sz="4000" b="1" dirty="0"/>
          </a:p>
        </p:txBody>
      </p:sp>
      <p:pic>
        <p:nvPicPr>
          <p:cNvPr id="3" name="Immagine 2" descr="Immagine che contiene testo, schermata, diagramma&#10;&#10;Descrizione generata automaticamente">
            <a:extLst>
              <a:ext uri="{FF2B5EF4-FFF2-40B4-BE49-F238E27FC236}">
                <a16:creationId xmlns:a16="http://schemas.microsoft.com/office/drawing/2014/main" id="{0EB9D3E3-84DE-224F-F6E1-20539E888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175" y="2558217"/>
            <a:ext cx="5717777" cy="379061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6D52BC8-1243-0BE7-093C-F8608AD70007}"/>
              </a:ext>
            </a:extLst>
          </p:cNvPr>
          <p:cNvSpPr txBox="1"/>
          <p:nvPr/>
        </p:nvSpPr>
        <p:spPr>
          <a:xfrm>
            <a:off x="933474" y="1418695"/>
            <a:ext cx="103250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In seguito è riportata la </a:t>
            </a:r>
            <a:r>
              <a:rPr lang="it-IT" altLang="it-IT" sz="2800" b="1" dirty="0">
                <a:latin typeface="Arial" panose="020B0604020202020204" pitchFamily="34" charset="0"/>
              </a:rPr>
              <a:t>Matrice di Confusione</a:t>
            </a:r>
            <a:r>
              <a:rPr lang="it-IT" altLang="it-IT" sz="2800" dirty="0">
                <a:latin typeface="Arial" panose="020B0604020202020204" pitchFamily="34" charset="0"/>
              </a:rPr>
              <a:t> della </a:t>
            </a:r>
            <a:r>
              <a:rPr lang="it-IT" altLang="it-IT" sz="2800" b="1" dirty="0" err="1">
                <a:latin typeface="Arial" panose="020B0604020202020204" pitchFamily="34" charset="0"/>
              </a:rPr>
              <a:t>Neural</a:t>
            </a:r>
            <a:r>
              <a:rPr lang="it-IT" altLang="it-IT" sz="2800" b="1" dirty="0">
                <a:latin typeface="Arial" panose="020B0604020202020204" pitchFamily="34" charset="0"/>
              </a:rPr>
              <a:t> Network</a:t>
            </a:r>
            <a:r>
              <a:rPr lang="it-IT" altLang="it-IT" sz="2800" dirty="0">
                <a:latin typeface="Arial" panose="020B0604020202020204" pitchFamily="34" charset="0"/>
              </a:rPr>
              <a:t>.</a:t>
            </a:r>
            <a:endParaRPr kumimoji="0" lang="it-IT" altLang="it-IT" sz="2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7123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261</Words>
  <Application>Microsoft Office PowerPoint</Application>
  <PresentationFormat>Widescreen</PresentationFormat>
  <Paragraphs>34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Tema di Office</vt:lpstr>
      <vt:lpstr>Rilevamento usura pala a partire dall’analisi del log di volo di un drone esarotore</vt:lpstr>
      <vt:lpstr>Dopo la 1° revisione…</vt:lpstr>
      <vt:lpstr>Attività svolte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SABATINI CATERINA</dc:creator>
  <cp:lastModifiedBy>SABATINI CATERINA</cp:lastModifiedBy>
  <cp:revision>4</cp:revision>
  <dcterms:created xsi:type="dcterms:W3CDTF">2026-01-27T15:16:37Z</dcterms:created>
  <dcterms:modified xsi:type="dcterms:W3CDTF">2026-02-02T14:43:47Z</dcterms:modified>
</cp:coreProperties>
</file>