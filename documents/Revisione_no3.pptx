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9" r:id="rId4"/>
    <p:sldId id="268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4" r:id="rId18"/>
    <p:sldId id="282" r:id="rId19"/>
    <p:sldId id="283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3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29297C-AAE0-EE8D-F91F-DAAFE3AD4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D541E9E-E5DC-DBDC-7B16-C73BC8183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8E9D52-0805-4F1C-67E9-5C92CC3F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10D7EA-C9CF-0DC3-7CD3-A1C0B777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762932-27FB-B142-D3F0-F431E770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123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83C5F-B8CA-4C2D-7B32-EF1A3F37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96679D-DE23-EFA5-7CEE-2279D5094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A4308E-1A5B-5FFB-A3C8-DC08F852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BC6E8A-05F8-F6D4-41A6-6E08D1C4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54D69C-19F4-406D-09AD-B9FE1FF0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44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81BE29-9A0C-A3BD-BA21-60CBB746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8BCC9F-519F-C573-BAB0-D5F5C893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C1913B-BC19-DEAD-C663-63FCCFE6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CCC077-AEAD-5991-9B8C-AB2EA5E8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D4A416-0C3D-9A98-DDF4-665BFA4B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5755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005F43-1491-F3DA-D27F-D0B36C31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0FC860-5993-8997-104A-84C49A91C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5024886-EA69-F488-74EF-741A5D790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E9C96F-4C12-7B46-CC31-9B5B7846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F3AC8E-5064-FD1D-36C1-C9A7582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491C799-D2BE-1F18-A0E6-E09FB27E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29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D6D614-A616-7C51-C35F-8CB3894E9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51C4DA-6298-0EEB-390E-1F6C45009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23BF184-EB31-F873-4309-E05F51018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7238CF-CE2B-8D2E-9C0E-DAE142752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1C11B9F-711F-B5E6-151F-F27150CB2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FD7867A-03BF-7B41-C99E-21E3E337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F9B9CA-C765-C3C7-3C94-E467A7D8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F7B0B43-E63E-A1CA-02B6-00799A66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729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DA79BA-E85A-2CD3-BED1-978A46CF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3D43A3C-A232-1926-3C9E-91409F0B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8747CBE-D959-0E89-8DB5-3D5CEBBD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8A80741-806F-8445-4392-5E627916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8425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BDFDFC7-7D39-B11F-B01A-5211B854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7D776F9-09DA-F992-CF6F-E01A42A3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156439-3F50-E427-AB4D-24A3DAB9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925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7E4F21-021D-74F9-72D1-1E015514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7AE953-1902-5E18-6406-857B09CD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0B696CB-86DA-9C82-14A8-6F4E2DC3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EC31563-2B82-168D-26E7-500DB5CE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85124F-A1A2-3434-CCC6-F8FB0F0E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B626889-6770-CEFA-8153-CF8EA8C2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45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8AB17-7843-7504-C22D-68ED3674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F178B5-8C5E-183D-0FB5-91B3E1A4D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C1530D-B44C-7DDF-5E06-10704A362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27E344-5718-61FC-539D-761B719C1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34588F-FD28-7D98-B370-FF51A2D9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E281AC-0F58-B8E2-6873-0EE2E957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455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5100C5-7FB7-BBA1-6496-6CA36575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22CFFB-00F3-1E66-96D9-5922B4401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2050E0-118A-E948-449F-2F5827EA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41FFFA-1EF9-BE3D-DEEC-8EB6D4FD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A6A778-0317-C9E8-394C-9DE65CB6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96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26CAA26-5B74-C31A-7CB9-7C063C78D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1E7C37B-AE56-8138-D545-46BD68C8F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4A91DB-5AC6-0E60-85BD-6DE57E17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6BF645-5BC4-1852-9E9E-DB7A9CA4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8483E2-06B5-CCAA-52CA-750E20EF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99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96D0B3C-915B-8696-B652-510E3FFD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540F92-8BCD-7680-D9FD-C74FD9680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79B497-3CD6-8132-E9A6-C608EB98F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646EC-D323-4620-B990-129302945705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8DA3B3-FB45-4D35-C8A4-D9AD227A0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AE3386-8F0A-F2C4-B6D7-43781013F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B36C1-E15D-49A0-B9D6-9A433D05072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52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7C7A07-0F39-5277-C5AD-806892AB9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656" y="1550071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it-IT" b="1" dirty="0"/>
              <a:t>Rilevamento usura pala a partire dall’analisi del log di volo di un drone </a:t>
            </a:r>
            <a:r>
              <a:rPr lang="it-IT" b="1" dirty="0" err="1"/>
              <a:t>esarotore</a:t>
            </a:r>
            <a:endParaRPr lang="it-IT" b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0614B82-0509-66D6-3D44-4F0910A81BF0}"/>
              </a:ext>
            </a:extLst>
          </p:cNvPr>
          <p:cNvSpPr txBox="1"/>
          <p:nvPr/>
        </p:nvSpPr>
        <p:spPr>
          <a:xfrm>
            <a:off x="1121664" y="3937671"/>
            <a:ext cx="8150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i="1" dirty="0"/>
              <a:t>Revisione no. 3 (10 febbraio 2026)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061827F-B059-8BB4-66C6-96222D57145D}"/>
              </a:ext>
            </a:extLst>
          </p:cNvPr>
          <p:cNvSpPr txBox="1"/>
          <p:nvPr/>
        </p:nvSpPr>
        <p:spPr>
          <a:xfrm>
            <a:off x="1057656" y="5367703"/>
            <a:ext cx="5422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 cura di: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Caterina Sabatini (S1121684)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dirty="0"/>
              <a:t>Matteo Stronati (S1122745)</a:t>
            </a:r>
          </a:p>
        </p:txBody>
      </p:sp>
    </p:spTree>
    <p:extLst>
      <p:ext uri="{BB962C8B-B14F-4D97-AF65-F5344CB8AC3E}">
        <p14:creationId xmlns:p14="http://schemas.microsoft.com/office/powerpoint/2010/main" val="96798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8345CA-41C1-65D0-D63B-952771ED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dirty="0">
                <a:latin typeface="+mn-lt"/>
              </a:rPr>
              <a:t>Attività svolte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6799A7-B887-62D9-7997-F89678D87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anchor="t"/>
          <a:lstStyle/>
          <a:p>
            <a:pPr marL="514350" indent="-514350">
              <a:buFont typeface="+mj-lt"/>
              <a:buAutoNum type="arabicPeriod"/>
            </a:pPr>
            <a:r>
              <a:rPr lang="it-IT" dirty="0" err="1"/>
              <a:t>Explainability</a:t>
            </a:r>
            <a:r>
              <a:rPr lang="it-IT" dirty="0"/>
              <a:t> per la classificazione </a:t>
            </a:r>
            <a:r>
              <a:rPr lang="it-IT" dirty="0" err="1"/>
              <a:t>multiclasse</a:t>
            </a:r>
            <a:r>
              <a:rPr lang="it-IT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Classificazione binaria (Fault 0/1).</a:t>
            </a:r>
          </a:p>
        </p:txBody>
      </p:sp>
    </p:spTree>
    <p:extLst>
      <p:ext uri="{BB962C8B-B14F-4D97-AF65-F5344CB8AC3E}">
        <p14:creationId xmlns:p14="http://schemas.microsoft.com/office/powerpoint/2010/main" val="114152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F5FE-23F4-3CFA-5913-C100CB0D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6B80AD-3722-65E6-DEBF-011AB3AA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 dirty="0">
                <a:latin typeface="+mn-lt"/>
              </a:rPr>
              <a:t>Modelli analizzati</a:t>
            </a:r>
          </a:p>
        </p:txBody>
      </p:sp>
      <p:pic>
        <p:nvPicPr>
          <p:cNvPr id="7" name="Immagine 6" descr="Immagine che contiene testo, numero&#10;&#10;Descrizione generata automaticamente">
            <a:extLst>
              <a:ext uri="{FF2B5EF4-FFF2-40B4-BE49-F238E27FC236}">
                <a16:creationId xmlns:a16="http://schemas.microsoft.com/office/drawing/2014/main" id="{24CEC04D-4394-595D-F75C-1C11E13C3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367" y="1867680"/>
            <a:ext cx="8469265" cy="3737063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B5F0822-C9EF-44FF-A02F-37714939DF9D}"/>
              </a:ext>
            </a:extLst>
          </p:cNvPr>
          <p:cNvSpPr/>
          <p:nvPr/>
        </p:nvSpPr>
        <p:spPr>
          <a:xfrm>
            <a:off x="1817298" y="2823713"/>
            <a:ext cx="8603411" cy="2932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97FBDD1-A53D-BF19-7928-4FF1D659333D}"/>
              </a:ext>
            </a:extLst>
          </p:cNvPr>
          <p:cNvSpPr/>
          <p:nvPr/>
        </p:nvSpPr>
        <p:spPr>
          <a:xfrm>
            <a:off x="1817298" y="5385758"/>
            <a:ext cx="8603411" cy="2932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440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A45D168-CD7E-837E-55E7-BB0B502F6751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1. </a:t>
            </a:r>
            <a:r>
              <a:rPr lang="it-IT" sz="4000" b="1" dirty="0" err="1"/>
              <a:t>Explainability</a:t>
            </a:r>
            <a:r>
              <a:rPr lang="it-IT" sz="4000" b="1" dirty="0"/>
              <a:t> classificazione </a:t>
            </a:r>
            <a:r>
              <a:rPr lang="it-IT" sz="4000" b="1" dirty="0" err="1"/>
              <a:t>multiclasse</a:t>
            </a:r>
            <a:endParaRPr lang="it-IT" sz="4000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A2C0945-7DDB-4DF1-6949-063354A932CE}"/>
              </a:ext>
            </a:extLst>
          </p:cNvPr>
          <p:cNvSpPr txBox="1"/>
          <p:nvPr/>
        </p:nvSpPr>
        <p:spPr>
          <a:xfrm>
            <a:off x="931211" y="1389033"/>
            <a:ext cx="9903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Matrice di confusione del modello Fine Tree e del </a:t>
            </a:r>
            <a:r>
              <a:rPr lang="it-IT" altLang="it-IT" sz="2800" dirty="0" err="1">
                <a:latin typeface="Arial" panose="020B0604020202020204" pitchFamily="34" charset="0"/>
              </a:rPr>
              <a:t>Cubic</a:t>
            </a:r>
            <a:r>
              <a:rPr lang="it-IT" altLang="it-IT" sz="2800" dirty="0">
                <a:latin typeface="Arial" panose="020B0604020202020204" pitchFamily="34" charset="0"/>
              </a:rPr>
              <a:t> SVM</a:t>
            </a:r>
            <a:endParaRPr kumimoji="0" lang="it-IT" altLang="it-IT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diagramma, quadrato&#10;&#10;Descrizione generata automaticamente">
            <a:extLst>
              <a:ext uri="{FF2B5EF4-FFF2-40B4-BE49-F238E27FC236}">
                <a16:creationId xmlns:a16="http://schemas.microsoft.com/office/drawing/2014/main" id="{E2135D41-9A9A-F00A-8B2D-6A3D0F0D8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11" y="2576423"/>
            <a:ext cx="4535365" cy="2993959"/>
          </a:xfrm>
          <a:prstGeom prst="rect">
            <a:avLst/>
          </a:prstGeom>
        </p:spPr>
      </p:pic>
      <p:pic>
        <p:nvPicPr>
          <p:cNvPr id="8" name="Immagine 7" descr="Immagine che contiene testo, schermata, diagramma, quadrato&#10;&#10;Descrizione generata automaticamente">
            <a:extLst>
              <a:ext uri="{FF2B5EF4-FFF2-40B4-BE49-F238E27FC236}">
                <a16:creationId xmlns:a16="http://schemas.microsoft.com/office/drawing/2014/main" id="{4047AE2A-B961-0989-3B01-A444F728E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426" y="2539658"/>
            <a:ext cx="4627009" cy="306748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6B7A9B4-FFF0-302B-FF0B-1E6B97A72D81}"/>
              </a:ext>
            </a:extLst>
          </p:cNvPr>
          <p:cNvSpPr txBox="1"/>
          <p:nvPr/>
        </p:nvSpPr>
        <p:spPr>
          <a:xfrm>
            <a:off x="1075426" y="5762445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9B3292B-D11B-0886-D448-667F7123A40A}"/>
              </a:ext>
            </a:extLst>
          </p:cNvPr>
          <p:cNvSpPr txBox="1"/>
          <p:nvPr/>
        </p:nvSpPr>
        <p:spPr>
          <a:xfrm>
            <a:off x="6176073" y="5707811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</p:spTree>
    <p:extLst>
      <p:ext uri="{BB962C8B-B14F-4D97-AF65-F5344CB8AC3E}">
        <p14:creationId xmlns:p14="http://schemas.microsoft.com/office/powerpoint/2010/main" val="47332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4F76-9BC8-BD13-61DB-14C7FAD81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6D2824E3-013A-F9CD-D860-2AF5E1D9FC5F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 err="1"/>
              <a:t>Permutation</a:t>
            </a:r>
            <a:r>
              <a:rPr lang="it-IT" sz="4000" b="1" i="1" dirty="0"/>
              <a:t> </a:t>
            </a:r>
            <a:r>
              <a:rPr lang="it-IT" sz="4000" b="1" i="1" dirty="0" err="1"/>
              <a:t>Importance</a:t>
            </a:r>
            <a:endParaRPr lang="it-IT" sz="4000" b="1" i="1" dirty="0"/>
          </a:p>
          <a:p>
            <a:endParaRPr lang="it-IT" sz="4000" b="1" i="1" dirty="0"/>
          </a:p>
        </p:txBody>
      </p:sp>
      <p:pic>
        <p:nvPicPr>
          <p:cNvPr id="5" name="Immagine 4" descr="Immagine che contiene testo, schermata, diagramma, numero&#10;&#10;Descrizione generata automaticamente">
            <a:extLst>
              <a:ext uri="{FF2B5EF4-FFF2-40B4-BE49-F238E27FC236}">
                <a16:creationId xmlns:a16="http://schemas.microsoft.com/office/drawing/2014/main" id="{FB1CC76C-982D-363F-55B3-8AC93DC48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03844"/>
            <a:ext cx="5139911" cy="3303386"/>
          </a:xfrm>
          <a:prstGeom prst="rect">
            <a:avLst/>
          </a:prstGeom>
        </p:spPr>
      </p:pic>
      <p:pic>
        <p:nvPicPr>
          <p:cNvPr id="8" name="Immagine 7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FDF6839B-C7A6-2576-8267-67C352A62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793" y="2103844"/>
            <a:ext cx="5260007" cy="336512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25E8BF-8EC9-730E-41F4-A76E5B95D950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A5C7E10-EF4D-8479-C540-C72E29CC6DF5}"/>
              </a:ext>
            </a:extLst>
          </p:cNvPr>
          <p:cNvSpPr txBox="1"/>
          <p:nvPr/>
        </p:nvSpPr>
        <p:spPr>
          <a:xfrm>
            <a:off x="6480873" y="5673306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</p:spTree>
    <p:extLst>
      <p:ext uri="{BB962C8B-B14F-4D97-AF65-F5344CB8AC3E}">
        <p14:creationId xmlns:p14="http://schemas.microsoft.com/office/powerpoint/2010/main" val="421663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F8F0-DA57-D87C-2383-3BEC5F0D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0A4DCAF-71A5-D94D-5303-CB0188B7CC97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Shapley </a:t>
            </a:r>
            <a:r>
              <a:rPr lang="it-IT" sz="4000" b="1" i="1" dirty="0" err="1"/>
              <a:t>Importance</a:t>
            </a:r>
            <a:endParaRPr lang="it-IT" sz="4000" b="1" i="1" dirty="0"/>
          </a:p>
          <a:p>
            <a:endParaRPr lang="it-IT" sz="4000" b="1" i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896CADC-D1BE-79F0-81D3-30D73348F832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35D4C5D-54F0-8698-46D1-F2164C74FA2D}"/>
              </a:ext>
            </a:extLst>
          </p:cNvPr>
          <p:cNvSpPr txBox="1"/>
          <p:nvPr/>
        </p:nvSpPr>
        <p:spPr>
          <a:xfrm>
            <a:off x="6480873" y="5673306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3" name="Immagine 2" descr="Immagine che contiene testo, schermata, linea, numero&#10;&#10;Descrizione generata automaticamente">
            <a:extLst>
              <a:ext uri="{FF2B5EF4-FFF2-40B4-BE49-F238E27FC236}">
                <a16:creationId xmlns:a16="http://schemas.microsoft.com/office/drawing/2014/main" id="{42284E05-113B-5FC4-5F2A-805D1C561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2968"/>
            <a:ext cx="4947249" cy="3277978"/>
          </a:xfrm>
          <a:prstGeom prst="rect">
            <a:avLst/>
          </a:prstGeom>
        </p:spPr>
      </p:pic>
      <p:pic>
        <p:nvPicPr>
          <p:cNvPr id="7" name="Immagine 6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422D0517-5359-AFC1-4C83-B28791393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307" y="1725284"/>
            <a:ext cx="5108493" cy="34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2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9E566-C6E5-A548-0D83-414BB9EA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238A079-0929-8283-68CE-3D586F719EE9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Shapley </a:t>
            </a:r>
            <a:r>
              <a:rPr lang="it-IT" sz="4000" b="1" i="1" dirty="0" err="1"/>
              <a:t>Importance</a:t>
            </a:r>
            <a:r>
              <a:rPr lang="it-IT" sz="4000" b="1" i="1" dirty="0"/>
              <a:t> (classe 0)</a:t>
            </a:r>
          </a:p>
          <a:p>
            <a:endParaRPr lang="it-IT" sz="4000" b="1" i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E986B18-BCAF-C669-7DD0-3696FC0D56B8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1204D50-7E61-996D-6E32-7C172622A7CE}"/>
              </a:ext>
            </a:extLst>
          </p:cNvPr>
          <p:cNvSpPr txBox="1"/>
          <p:nvPr/>
        </p:nvSpPr>
        <p:spPr>
          <a:xfrm>
            <a:off x="6480873" y="5673306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FEF12DB6-4794-5C89-5AA6-F87B846F1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0848"/>
            <a:ext cx="4967454" cy="3324431"/>
          </a:xfrm>
          <a:prstGeom prst="rect">
            <a:avLst/>
          </a:prstGeom>
        </p:spPr>
      </p:pic>
      <p:pic>
        <p:nvPicPr>
          <p:cNvPr id="8" name="Immagine 7" descr="Immagine che contiene testo, schermata, numero, linea&#10;&#10;Descrizione generata automaticamente">
            <a:extLst>
              <a:ext uri="{FF2B5EF4-FFF2-40B4-BE49-F238E27FC236}">
                <a16:creationId xmlns:a16="http://schemas.microsoft.com/office/drawing/2014/main" id="{83D8C785-BF93-DB20-91C0-D220E5FF4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348" y="1890848"/>
            <a:ext cx="4841937" cy="32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2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316A-DA16-196F-98D8-E8F481B0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59558FE-21AE-7F7D-B111-A4CA774A6ED7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Shapley </a:t>
            </a:r>
            <a:r>
              <a:rPr lang="it-IT" sz="4000" b="1" i="1" dirty="0" err="1"/>
              <a:t>Importance</a:t>
            </a:r>
            <a:r>
              <a:rPr lang="it-IT" sz="4000" b="1" i="1" dirty="0"/>
              <a:t> (classe 5)</a:t>
            </a:r>
          </a:p>
          <a:p>
            <a:endParaRPr lang="it-IT" sz="4000" b="1" i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CAC1F6-67BF-98A6-B147-ACE37687ED5E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65CA7C7-8818-CF4A-775E-C6FE9D3008C1}"/>
              </a:ext>
            </a:extLst>
          </p:cNvPr>
          <p:cNvSpPr txBox="1"/>
          <p:nvPr/>
        </p:nvSpPr>
        <p:spPr>
          <a:xfrm>
            <a:off x="6480873" y="5673306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3" name="Immagine 2" descr="Immagine che contiene testo, schermata, linea, numero&#10;&#10;Descrizione generata automaticamente">
            <a:extLst>
              <a:ext uri="{FF2B5EF4-FFF2-40B4-BE49-F238E27FC236}">
                <a16:creationId xmlns:a16="http://schemas.microsoft.com/office/drawing/2014/main" id="{FC75F017-9E21-99D0-FDDF-77A45CB4E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7" y="1982145"/>
            <a:ext cx="4798540" cy="3179445"/>
          </a:xfrm>
          <a:prstGeom prst="rect">
            <a:avLst/>
          </a:prstGeom>
        </p:spPr>
      </p:pic>
      <p:pic>
        <p:nvPicPr>
          <p:cNvPr id="7" name="Immagine 6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DCB7443F-4462-CA9B-A24D-C7428A145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76060"/>
            <a:ext cx="4839019" cy="319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84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EFB8-9446-4D7E-AB73-9D0EC2A3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E5848DE2-5692-96EE-E1EA-FFA64D295727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Shapley </a:t>
            </a:r>
            <a:r>
              <a:rPr lang="it-IT" sz="4000" b="1" i="1" dirty="0" err="1"/>
              <a:t>Importance</a:t>
            </a:r>
            <a:r>
              <a:rPr lang="it-IT" sz="4000" b="1" i="1" dirty="0"/>
              <a:t> (classe 10)</a:t>
            </a:r>
          </a:p>
          <a:p>
            <a:endParaRPr lang="it-IT" sz="4000" b="1" i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F58E965-84AD-A450-8C3C-464DD0894AF8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8576862-B171-F19C-7271-BB587DBC86F7}"/>
              </a:ext>
            </a:extLst>
          </p:cNvPr>
          <p:cNvSpPr txBox="1"/>
          <p:nvPr/>
        </p:nvSpPr>
        <p:spPr>
          <a:xfrm>
            <a:off x="6480873" y="5673306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5" name="Immagine 4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09385022-8BC6-7623-010A-633B95CAA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5457"/>
            <a:ext cx="4809226" cy="3171965"/>
          </a:xfrm>
          <a:prstGeom prst="rect">
            <a:avLst/>
          </a:prstGeom>
        </p:spPr>
      </p:pic>
      <p:pic>
        <p:nvPicPr>
          <p:cNvPr id="8" name="Immagine 7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5AAE7F62-D8F9-61F1-B379-CC07990BD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287" y="1915457"/>
            <a:ext cx="5144652" cy="340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9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29BE1-2A99-B62A-4860-A3EE15BD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A3016791-FACB-06C2-3228-8B22DE61C8B9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Shapley </a:t>
            </a:r>
            <a:r>
              <a:rPr lang="it-IT" sz="4000" b="1" i="1" dirty="0" err="1"/>
              <a:t>Summary</a:t>
            </a:r>
            <a:r>
              <a:rPr lang="it-IT" sz="4000" b="1" i="1" dirty="0"/>
              <a:t> (classe 0)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6F46445-0092-1F42-A858-3821CF83EC94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A27D689-CC8B-F79D-1DCB-032533F032E3}"/>
              </a:ext>
            </a:extLst>
          </p:cNvPr>
          <p:cNvSpPr txBox="1"/>
          <p:nvPr/>
        </p:nvSpPr>
        <p:spPr>
          <a:xfrm>
            <a:off x="6480873" y="5673306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3" name="Immagine 2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4ACF6CF6-A8AF-363B-B325-26D406A2D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0197"/>
            <a:ext cx="4824110" cy="3033123"/>
          </a:xfrm>
          <a:prstGeom prst="rect">
            <a:avLst/>
          </a:prstGeom>
        </p:spPr>
      </p:pic>
      <p:pic>
        <p:nvPicPr>
          <p:cNvPr id="7" name="Immagine 6" descr="Immagine che contiene testo, schermata, numero, Diagramma&#10;&#10;Descrizione generata automaticamente">
            <a:extLst>
              <a:ext uri="{FF2B5EF4-FFF2-40B4-BE49-F238E27FC236}">
                <a16:creationId xmlns:a16="http://schemas.microsoft.com/office/drawing/2014/main" id="{5985FADC-4E8F-93E0-6678-FB438A396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503" y="1908125"/>
            <a:ext cx="4986453" cy="313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3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BE6A-F7FC-8255-868D-591AD64B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8A20825-5564-09FB-E971-6FA271261350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Shapley </a:t>
            </a:r>
            <a:r>
              <a:rPr lang="it-IT" sz="4000" b="1" i="1" dirty="0" err="1"/>
              <a:t>Summary</a:t>
            </a:r>
            <a:r>
              <a:rPr lang="it-IT" sz="4000" b="1" i="1" dirty="0"/>
              <a:t> (classe 5)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5332E01-F558-2F34-BADE-AD7234D5B78A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9CE5676-4219-00FF-4728-57D0DE8D35C4}"/>
              </a:ext>
            </a:extLst>
          </p:cNvPr>
          <p:cNvSpPr txBox="1"/>
          <p:nvPr/>
        </p:nvSpPr>
        <p:spPr>
          <a:xfrm>
            <a:off x="6723995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5" name="Immagine 4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AE2BE36A-819A-6D4A-8B05-A02571090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2145"/>
            <a:ext cx="4915578" cy="3090633"/>
          </a:xfrm>
          <a:prstGeom prst="rect">
            <a:avLst/>
          </a:prstGeom>
        </p:spPr>
      </p:pic>
      <p:pic>
        <p:nvPicPr>
          <p:cNvPr id="8" name="Immagine 7" descr="Immagine che contiene testo, schermata, numero, Diagramma&#10;&#10;Descrizione generata automaticamente">
            <a:extLst>
              <a:ext uri="{FF2B5EF4-FFF2-40B4-BE49-F238E27FC236}">
                <a16:creationId xmlns:a16="http://schemas.microsoft.com/office/drawing/2014/main" id="{D5350303-0045-1FDC-4E6F-D5031D5BB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224" y="1982144"/>
            <a:ext cx="4919257" cy="309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94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F193-A254-EA02-5ABE-F11143F6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B08E470E-AAAA-2CB9-E71F-FD1F62904C5F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Shapley </a:t>
            </a:r>
            <a:r>
              <a:rPr lang="it-IT" sz="4000" b="1" i="1" dirty="0" err="1"/>
              <a:t>Summary</a:t>
            </a:r>
            <a:r>
              <a:rPr lang="it-IT" sz="4000" b="1" i="1" dirty="0"/>
              <a:t> (classe 10)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14335C8-5D44-406A-B864-17D9DBDC2731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A49CDE0-1637-28B2-E0CC-B1154F52E207}"/>
              </a:ext>
            </a:extLst>
          </p:cNvPr>
          <p:cNvSpPr txBox="1"/>
          <p:nvPr/>
        </p:nvSpPr>
        <p:spPr>
          <a:xfrm>
            <a:off x="6723995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3" name="Immagine 2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12F0F735-BA50-1843-AD3E-A8E246859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10"/>
            <a:ext cx="5082092" cy="3195328"/>
          </a:xfrm>
          <a:prstGeom prst="rect">
            <a:avLst/>
          </a:prstGeom>
        </p:spPr>
      </p:pic>
      <p:pic>
        <p:nvPicPr>
          <p:cNvPr id="7" name="Immagine 6" descr="Immagine che contiene testo, schermata, Carattere, Diagramma&#10;&#10;Descrizione generata automaticamente">
            <a:extLst>
              <a:ext uri="{FF2B5EF4-FFF2-40B4-BE49-F238E27FC236}">
                <a16:creationId xmlns:a16="http://schemas.microsoft.com/office/drawing/2014/main" id="{CA28F6D9-225D-4660-118A-C67DB4F21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708" y="1952212"/>
            <a:ext cx="5082092" cy="3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4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5D2C-5697-436F-B58F-1DA5A1BA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AA29368-FD44-214D-D7A1-D49AA47A9D06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 err="1"/>
              <a:t>Partial</a:t>
            </a:r>
            <a:r>
              <a:rPr lang="it-IT" sz="4000" b="1" i="1" dirty="0"/>
              <a:t> Dependance Plot (Mean Vibe y)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CCD5F29-ED54-6058-498A-845C4EE402D6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E347A30-50FE-1614-EB8F-E8E09F8D95B6}"/>
              </a:ext>
            </a:extLst>
          </p:cNvPr>
          <p:cNvSpPr txBox="1"/>
          <p:nvPr/>
        </p:nvSpPr>
        <p:spPr>
          <a:xfrm>
            <a:off x="6723995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5" name="Immagine 4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1DC4FFC5-834F-2D05-278D-3CA95EC7D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12" y="1982145"/>
            <a:ext cx="5023356" cy="3339032"/>
          </a:xfrm>
          <a:prstGeom prst="rect">
            <a:avLst/>
          </a:prstGeom>
        </p:spPr>
      </p:pic>
      <p:pic>
        <p:nvPicPr>
          <p:cNvPr id="8" name="Immagine 7" descr="Immagine che contiene testo, linea, Diagramma, schermata&#10;&#10;Descrizione generata automaticamente">
            <a:extLst>
              <a:ext uri="{FF2B5EF4-FFF2-40B4-BE49-F238E27FC236}">
                <a16:creationId xmlns:a16="http://schemas.microsoft.com/office/drawing/2014/main" id="{EFBAC76F-0A6A-6B50-5FFA-FBB253312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759" y="1982145"/>
            <a:ext cx="5049268" cy="33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6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DB82-8A9D-D7F6-D99C-83CDDE52C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96B1657-46DB-086E-4806-7BEE9E80A81E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 err="1"/>
              <a:t>Partial</a:t>
            </a:r>
            <a:r>
              <a:rPr lang="it-IT" sz="4000" b="1" i="1" dirty="0"/>
              <a:t> Dependance Plot (RMS Vibe y)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B8FC8E0-DF7A-BAB6-D237-137C951B1AFE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4436AAA-9F1D-CEB6-7289-DA2CED175C0E}"/>
              </a:ext>
            </a:extLst>
          </p:cNvPr>
          <p:cNvSpPr txBox="1"/>
          <p:nvPr/>
        </p:nvSpPr>
        <p:spPr>
          <a:xfrm>
            <a:off x="6723995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3" name="Immagine 2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438E8ABA-3576-B3B0-3D6A-8C892AF90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56" y="2015211"/>
            <a:ext cx="4700440" cy="3097002"/>
          </a:xfrm>
          <a:prstGeom prst="rect">
            <a:avLst/>
          </a:prstGeom>
        </p:spPr>
      </p:pic>
      <p:pic>
        <p:nvPicPr>
          <p:cNvPr id="7" name="Immagine 6" descr="Immagine che contiene testo, linea, Diagramma, schermata&#10;&#10;Descrizione generata automaticamente">
            <a:extLst>
              <a:ext uri="{FF2B5EF4-FFF2-40B4-BE49-F238E27FC236}">
                <a16:creationId xmlns:a16="http://schemas.microsoft.com/office/drawing/2014/main" id="{D7EC4217-6C58-8077-7509-3AAD3B624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0" y="1958018"/>
            <a:ext cx="4769759" cy="315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70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0748-BD44-976F-90D6-BFAD4573D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3D8C0B5-A116-C70F-BB49-8B6DD55E73C4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LIME (</a:t>
            </a:r>
            <a:r>
              <a:rPr lang="it-IT" sz="4000" b="1" i="1" dirty="0" err="1"/>
              <a:t>prediction</a:t>
            </a:r>
            <a:r>
              <a:rPr lang="it-IT" sz="4000" b="1" i="1" dirty="0"/>
              <a:t> </a:t>
            </a:r>
            <a:r>
              <a:rPr lang="it-IT" sz="4000" b="1" i="1" dirty="0" err="1"/>
              <a:t>correct</a:t>
            </a:r>
            <a:r>
              <a:rPr lang="it-IT" sz="4000" b="1" i="1" dirty="0"/>
              <a:t> class 10)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87437F0-B149-7ACE-4A54-262318188D1A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8897F89-1358-ECE3-9C19-3DC75904B146}"/>
              </a:ext>
            </a:extLst>
          </p:cNvPr>
          <p:cNvSpPr txBox="1"/>
          <p:nvPr/>
        </p:nvSpPr>
        <p:spPr>
          <a:xfrm>
            <a:off x="6723995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5" name="Immagine 4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E2139828-7A2E-8001-F56E-1ED2C17C7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02852"/>
            <a:ext cx="4690507" cy="2262996"/>
          </a:xfrm>
          <a:prstGeom prst="rect">
            <a:avLst/>
          </a:prstGeom>
        </p:spPr>
      </p:pic>
      <p:pic>
        <p:nvPicPr>
          <p:cNvPr id="8" name="Immagine 7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0D747545-02E3-045F-62FE-726C3D1BC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415" y="2489461"/>
            <a:ext cx="4946276" cy="238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445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9F07-0E47-99A5-C2BD-7BFD2C2B2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708A3E6C-A3AF-28F1-E1D0-8E8AD0EE9C11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i="1" dirty="0"/>
              <a:t>LIME (</a:t>
            </a:r>
            <a:r>
              <a:rPr lang="it-IT" sz="4000" b="1" i="1" dirty="0" err="1"/>
              <a:t>prediction</a:t>
            </a:r>
            <a:r>
              <a:rPr lang="it-IT" sz="4000" b="1" i="1" dirty="0"/>
              <a:t> </a:t>
            </a:r>
            <a:r>
              <a:rPr lang="it-IT" sz="4000" b="1" i="1" dirty="0" err="1"/>
              <a:t>wrong</a:t>
            </a:r>
            <a:r>
              <a:rPr lang="it-IT" sz="4000" b="1" i="1" dirty="0"/>
              <a:t> class 0)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91E4B6-22C2-3D43-063A-BB24D95918C6}"/>
              </a:ext>
            </a:extLst>
          </p:cNvPr>
          <p:cNvSpPr txBox="1"/>
          <p:nvPr/>
        </p:nvSpPr>
        <p:spPr>
          <a:xfrm>
            <a:off x="1380226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Fine Tree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4556D67-3207-A861-AF59-801744D0DE01}"/>
              </a:ext>
            </a:extLst>
          </p:cNvPr>
          <p:cNvSpPr txBox="1"/>
          <p:nvPr/>
        </p:nvSpPr>
        <p:spPr>
          <a:xfrm>
            <a:off x="6723995" y="5727940"/>
            <a:ext cx="434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Cubic</a:t>
            </a:r>
            <a:r>
              <a:rPr lang="it-IT" dirty="0"/>
              <a:t> SVM</a:t>
            </a:r>
          </a:p>
        </p:txBody>
      </p:sp>
      <p:pic>
        <p:nvPicPr>
          <p:cNvPr id="3" name="Immagine 2" descr="Immagine che contiene testo, schermata, Carattere, diagramma&#10;&#10;Descrizione generata automaticamente">
            <a:extLst>
              <a:ext uri="{FF2B5EF4-FFF2-40B4-BE49-F238E27FC236}">
                <a16:creationId xmlns:a16="http://schemas.microsoft.com/office/drawing/2014/main" id="{48A5D18D-5D9B-2675-3BD4-D4AA22D06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82019"/>
            <a:ext cx="4987505" cy="2389524"/>
          </a:xfrm>
          <a:prstGeom prst="rect">
            <a:avLst/>
          </a:prstGeom>
        </p:spPr>
      </p:pic>
      <p:pic>
        <p:nvPicPr>
          <p:cNvPr id="7" name="Immagine 6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9A0A09A1-B26C-51B8-1BD7-296F7DDAA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72" y="2508391"/>
            <a:ext cx="4843437" cy="233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2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61299-FF5A-5780-93C8-E7337F2D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21A7B5E-6BBE-8C5B-F147-AF8B28F078C9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2. Classificazione binaria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A92411-223F-B193-4C9C-E41FDAD2EC5E}"/>
              </a:ext>
            </a:extLst>
          </p:cNvPr>
          <p:cNvSpPr txBox="1"/>
          <p:nvPr/>
        </p:nvSpPr>
        <p:spPr>
          <a:xfrm>
            <a:off x="838200" y="1389033"/>
            <a:ext cx="99035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Per migliorare lo sbilanciamento delle classi, abbiamo impostato la matrice dei </a:t>
            </a:r>
            <a:r>
              <a:rPr lang="it-IT" altLang="it-IT" sz="2800" b="1" dirty="0" err="1">
                <a:latin typeface="Arial" panose="020B0604020202020204" pitchFamily="34" charset="0"/>
              </a:rPr>
              <a:t>Misclassification</a:t>
            </a:r>
            <a:r>
              <a:rPr lang="it-IT" altLang="it-IT" sz="2800" b="1" dirty="0">
                <a:latin typeface="Arial" panose="020B0604020202020204" pitchFamily="34" charset="0"/>
              </a:rPr>
              <a:t> Costs</a:t>
            </a:r>
            <a:r>
              <a:rPr lang="it-IT" altLang="it-IT" sz="2800" dirty="0">
                <a:latin typeface="Arial" panose="020B0604020202020204" pitchFamily="34" charset="0"/>
              </a:rPr>
              <a:t>.</a:t>
            </a:r>
            <a:endParaRPr kumimoji="0" lang="it-IT" alt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5FBAE6E8-5C39-7FC2-BE8C-BDEC59E42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479" y="2553936"/>
            <a:ext cx="5054500" cy="372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86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ACA2-BDA9-985B-2A26-5153C7C0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B5D3B349-AFA1-DDC8-9823-5EF7D90C5AC7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2. Classificazione binaria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8D0291E-742C-542E-A01A-0C93A4A4E2F0}"/>
              </a:ext>
            </a:extLst>
          </p:cNvPr>
          <p:cNvSpPr txBox="1"/>
          <p:nvPr/>
        </p:nvSpPr>
        <p:spPr>
          <a:xfrm>
            <a:off x="907210" y="1289776"/>
            <a:ext cx="9903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400" dirty="0">
                <a:latin typeface="Arial" panose="020B0604020202020204" pitchFamily="34" charset="0"/>
              </a:rPr>
              <a:t>In seguito sono riportati i </a:t>
            </a:r>
            <a:r>
              <a:rPr lang="it-IT" altLang="it-IT" sz="2400" b="1" dirty="0">
                <a:latin typeface="Arial" panose="020B0604020202020204" pitchFamily="34" charset="0"/>
              </a:rPr>
              <a:t>risultati</a:t>
            </a:r>
            <a:r>
              <a:rPr lang="it-IT" altLang="it-IT" sz="2400" dirty="0">
                <a:latin typeface="Arial" panose="020B0604020202020204" pitchFamily="34" charset="0"/>
              </a:rPr>
              <a:t> della classificazione.</a:t>
            </a:r>
            <a:endParaRPr kumimoji="0" lang="it-IT" altLang="it-IT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62C4C3F-61F5-84BE-2209-2ECBCC50923F}"/>
              </a:ext>
            </a:extLst>
          </p:cNvPr>
          <p:cNvSpPr txBox="1"/>
          <p:nvPr/>
        </p:nvSpPr>
        <p:spPr>
          <a:xfrm>
            <a:off x="838199" y="5917900"/>
            <a:ext cx="9903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400" b="1" dirty="0">
                <a:latin typeface="Arial" panose="020B0604020202020204" pitchFamily="34" charset="0"/>
              </a:rPr>
              <a:t>N.B. </a:t>
            </a:r>
            <a:r>
              <a:rPr lang="it-IT" altLang="it-IT" sz="2400" dirty="0">
                <a:latin typeface="Arial" panose="020B0604020202020204" pitchFamily="34" charset="0"/>
              </a:rPr>
              <a:t>Sono state selezionate </a:t>
            </a:r>
            <a:r>
              <a:rPr lang="it-IT" altLang="it-IT" sz="2400" b="1" dirty="0">
                <a:latin typeface="Arial" panose="020B0604020202020204" pitchFamily="34" charset="0"/>
              </a:rPr>
              <a:t>50 feature con ANOVA scores più alto</a:t>
            </a:r>
            <a:r>
              <a:rPr lang="it-IT" altLang="it-IT" sz="2400" dirty="0">
                <a:latin typeface="Arial" panose="020B0604020202020204" pitchFamily="34" charset="0"/>
              </a:rPr>
              <a:t>.</a:t>
            </a:r>
            <a:endParaRPr kumimoji="0" lang="it-IT" altLang="it-I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magine 7" descr="Immagine che contiene testo, schermata, numero, software&#10;&#10;Descrizione generata automaticamente">
            <a:extLst>
              <a:ext uri="{FF2B5EF4-FFF2-40B4-BE49-F238E27FC236}">
                <a16:creationId xmlns:a16="http://schemas.microsoft.com/office/drawing/2014/main" id="{B1DCA12E-33B4-FBBF-F3E0-5E97929D2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976" y="1898260"/>
            <a:ext cx="2270031" cy="401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09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2B95-F246-9846-7D37-E7F407DA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F3159D4-2C3E-31AC-B1D8-1AFCEB007194}"/>
              </a:ext>
            </a:extLst>
          </p:cNvPr>
          <p:cNvSpPr txBox="1">
            <a:spLocks/>
          </p:cNvSpPr>
          <p:nvPr/>
        </p:nvSpPr>
        <p:spPr>
          <a:xfrm>
            <a:off x="838200" y="65658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2. Classificazione binaria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CD51EC9-1D06-950A-BC1B-513D61B5B158}"/>
              </a:ext>
            </a:extLst>
          </p:cNvPr>
          <p:cNvSpPr txBox="1"/>
          <p:nvPr/>
        </p:nvSpPr>
        <p:spPr>
          <a:xfrm>
            <a:off x="838200" y="1544308"/>
            <a:ext cx="9903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altLang="it-IT" sz="2800" dirty="0">
                <a:latin typeface="Arial" panose="020B0604020202020204" pitchFamily="34" charset="0"/>
              </a:rPr>
              <a:t>Matrice di Confusione del </a:t>
            </a:r>
            <a:r>
              <a:rPr lang="it-IT" altLang="it-IT" sz="2800" b="1" dirty="0" err="1">
                <a:latin typeface="Arial" panose="020B0604020202020204" pitchFamily="34" charset="0"/>
              </a:rPr>
              <a:t>Boosted</a:t>
            </a:r>
            <a:r>
              <a:rPr lang="it-IT" altLang="it-IT" sz="2800" b="1" dirty="0">
                <a:latin typeface="Arial" panose="020B0604020202020204" pitchFamily="34" charset="0"/>
              </a:rPr>
              <a:t> </a:t>
            </a:r>
            <a:r>
              <a:rPr lang="it-IT" altLang="it-IT" sz="2800" b="1" dirty="0" err="1">
                <a:latin typeface="Arial" panose="020B0604020202020204" pitchFamily="34" charset="0"/>
              </a:rPr>
              <a:t>Trees</a:t>
            </a:r>
            <a:r>
              <a:rPr lang="it-IT" altLang="it-IT" sz="2800" dirty="0">
                <a:latin typeface="Arial" panose="020B0604020202020204" pitchFamily="34" charset="0"/>
              </a:rPr>
              <a:t>.</a:t>
            </a:r>
            <a:endParaRPr kumimoji="0" lang="it-IT" altLang="it-IT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diagramma, design&#10;&#10;Descrizione generata automaticamente">
            <a:extLst>
              <a:ext uri="{FF2B5EF4-FFF2-40B4-BE49-F238E27FC236}">
                <a16:creationId xmlns:a16="http://schemas.microsoft.com/office/drawing/2014/main" id="{3B22DE1A-6CC0-2282-020C-1CAD7E474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826" y="2406949"/>
            <a:ext cx="6052312" cy="372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1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249</Words>
  <Application>Microsoft Office PowerPoint</Application>
  <PresentationFormat>Widescreen</PresentationFormat>
  <Paragraphs>56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Tema di Office</vt:lpstr>
      <vt:lpstr>Rilevamento usura pala a partire dall’analisi del log di volo di un drone esarotore</vt:lpstr>
      <vt:lpstr>Attività svolte</vt:lpstr>
      <vt:lpstr>Modelli analizzati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SABATINI CATERINA</dc:creator>
  <cp:lastModifiedBy>SABATINI CATERINA</cp:lastModifiedBy>
  <cp:revision>5</cp:revision>
  <dcterms:created xsi:type="dcterms:W3CDTF">2026-01-27T15:16:37Z</dcterms:created>
  <dcterms:modified xsi:type="dcterms:W3CDTF">2026-02-10T09:21:40Z</dcterms:modified>
</cp:coreProperties>
</file>